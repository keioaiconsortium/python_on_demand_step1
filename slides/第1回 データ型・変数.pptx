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千野浩輔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25T12:58:56.231">
    <p:pos x="6000" y="0"/>
    <p:text>ダブルクォート、シングルクォートのどちらも文法的に可能だが、本講座ではダブルクォートを標準として使うことを明言する。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3-25T13:05:14.573">
    <p:pos x="6000" y="0"/>
    <p:text>この他にも、float、list、tupple、dictがあることを示唆しておく。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588508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588508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ca1e9e2b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ca1e9e2b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ca1e9e2b4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ca1e9e2b4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ca1e9e2b4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ca1e9e2b4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ca1e9e2b4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ca1e9e2b4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ca1e9e2b4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ca1e9e2b4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ca1e9e2b4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ca1e9e2b4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ca1e9e2b4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ca1e9e2b4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ca1e9e2b4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ca1e9e2b4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ca1e9e2b4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ca1e9e2b4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ca1e9e2b4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ca1e9e2b4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a588508a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a588508a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a588508a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a588508a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ca1e9e2b4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ca1e9e2b4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a588508a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a588508a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a588508a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a588508a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a588508a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a588508a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a588508a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a588508a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a588508a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a588508a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a588508a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a588508a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a588508a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a588508a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a588508a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a588508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a588508a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a588508a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73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.xml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2.xml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250"/>
              <a:t>Python入門オンデマンド講座</a:t>
            </a:r>
            <a:br>
              <a:rPr lang="ja"/>
            </a:br>
            <a:r>
              <a:rPr lang="ja"/>
              <a:t>第1回 データ型・変数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作成モジュール：ゲームのデータ（”X”, “O”, “ “, 0~8）を理解し、変数で保持する。</a:t>
            </a:r>
            <a:endParaRPr/>
          </a:p>
        </p:txBody>
      </p:sp>
      <p:pic>
        <p:nvPicPr>
          <p:cNvPr id="132" name="Google Shape;132;p25" title="Screenshot 2026-03-25 at 21.51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42820"/>
            <a:ext cx="9144003" cy="1116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今回のゴール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ja" sz="2500"/>
              <a:t>ゲームで使うデータの扱い方について理解しよう！</a:t>
            </a:r>
            <a:endParaRPr b="1" sz="25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 sz="2500"/>
              <a:t>そのために...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500"/>
              <a:buChar char="✓"/>
            </a:pPr>
            <a:r>
              <a:rPr lang="ja" sz="2500"/>
              <a:t>print</a:t>
            </a:r>
            <a:r>
              <a:rPr lang="ja" sz="2500"/>
              <a:t>の使い方を知ろう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✓"/>
            </a:pPr>
            <a:r>
              <a:rPr lang="ja" sz="2500"/>
              <a:t>変数の概念を知ろう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✓"/>
            </a:pPr>
            <a:r>
              <a:rPr lang="ja" sz="2500"/>
              <a:t>型の概念を知ろう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はじめの一歩！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ja" sz="2500"/>
              <a:t>以下のコードを実行してみよう</a:t>
            </a:r>
            <a:endParaRPr sz="25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525" y="2219325"/>
            <a:ext cx="7143750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はじめの一歩！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ja" sz="2500"/>
              <a:t>以下のコードを実行してみよう</a:t>
            </a:r>
            <a:endParaRPr sz="2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28"/>
          <p:cNvSpPr/>
          <p:nvPr/>
        </p:nvSpPr>
        <p:spPr>
          <a:xfrm>
            <a:off x="378675" y="3638425"/>
            <a:ext cx="2536200" cy="99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()</a:t>
            </a:r>
            <a:r>
              <a:rPr lang="ja" sz="1800"/>
              <a:t>の中を表示するよ！</a:t>
            </a:r>
            <a:endParaRPr sz="1800"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525" y="2219325"/>
            <a:ext cx="7143750" cy="1009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28"/>
          <p:cNvCxnSpPr/>
          <p:nvPr/>
        </p:nvCxnSpPr>
        <p:spPr>
          <a:xfrm rot="10800000">
            <a:off x="2639450" y="2857425"/>
            <a:ext cx="0" cy="80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マルバツゲームに必要な情報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ゲームを作るためにどういう情報が必要？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どちらの手番か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あるマスに何が置かれているか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ja"/>
              <a:t>ゲームの進行状況（ターン数等）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→ </a:t>
            </a:r>
            <a:r>
              <a:rPr b="1" lang="ja"/>
              <a:t>変数</a:t>
            </a:r>
            <a:r>
              <a:rPr lang="ja"/>
              <a:t>として格納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変数とは？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✓"/>
            </a:pPr>
            <a:r>
              <a:rPr lang="ja"/>
              <a:t>情報を入れる</a:t>
            </a:r>
            <a:r>
              <a:rPr b="1" lang="ja"/>
              <a:t>箱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入れる情報は数に限らない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整数，実数，文字列，真偽値，...</a:t>
            </a:r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301" y="1369225"/>
            <a:ext cx="2389049" cy="333067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/>
          <p:nvPr/>
        </p:nvSpPr>
        <p:spPr>
          <a:xfrm rot="5400000">
            <a:off x="2639225" y="1389700"/>
            <a:ext cx="286800" cy="4308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 txBox="1"/>
          <p:nvPr/>
        </p:nvSpPr>
        <p:spPr>
          <a:xfrm>
            <a:off x="628625" y="3810000"/>
            <a:ext cx="5190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500">
                <a:solidFill>
                  <a:schemeClr val="dk1"/>
                </a:solidFill>
              </a:rPr>
              <a:t>変数の中身には多くの</a:t>
            </a:r>
            <a:r>
              <a:rPr b="1" lang="ja" sz="2500">
                <a:solidFill>
                  <a:schemeClr val="dk1"/>
                </a:solidFill>
              </a:rPr>
              <a:t>型</a:t>
            </a:r>
            <a:r>
              <a:rPr lang="ja" sz="2500">
                <a:solidFill>
                  <a:schemeClr val="dk1"/>
                </a:solidFill>
              </a:rPr>
              <a:t>がある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まずは変数を使ってみよう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次のようなコードを実行してみよう：</a:t>
            </a:r>
            <a:endParaRPr/>
          </a:p>
        </p:txBody>
      </p:sp>
      <p:pic>
        <p:nvPicPr>
          <p:cNvPr id="176" name="Google Shape;1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700" y="2269525"/>
            <a:ext cx="6388600" cy="18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まずは変数を使ってみよう</a:t>
            </a:r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次のようなコードを実行してみよう：</a:t>
            </a:r>
            <a:endParaRPr/>
          </a:p>
        </p:txBody>
      </p:sp>
      <p:pic>
        <p:nvPicPr>
          <p:cNvPr id="189" name="Google Shape;1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25" y="2269525"/>
            <a:ext cx="7829550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このように...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628650" y="1369225"/>
            <a:ext cx="81795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ja"/>
              <a:t>変数名 ＝ 値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の形で「箱を作り，値を入れる」を実現できる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入れる値によってその変数の型が決まる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興味のある人はある変数について以下を実行してみよう: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print(type(変数名)) </a:t>
            </a:r>
            <a:r>
              <a:rPr lang="ja" sz="2300"/>
              <a:t>→ strやintなど型の情報が表示されます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500"/>
              <a:t>マルバツゲームを作るための変数を定義しよう</a:t>
            </a:r>
            <a:endParaRPr sz="2500"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75" y="1752500"/>
            <a:ext cx="7071851" cy="24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ゲームに必要な処理</a:t>
            </a:r>
            <a:endParaRPr/>
          </a:p>
        </p:txBody>
      </p:sp>
      <p:sp>
        <p:nvSpPr>
          <p:cNvPr id="208" name="Google Shape;208;p3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手番の切り替え</a:t>
            </a:r>
            <a:r>
              <a:rPr b="1" lang="ja"/>
              <a:t> → 再代入</a:t>
            </a:r>
            <a:endParaRPr b="1"/>
          </a:p>
        </p:txBody>
      </p:sp>
      <p:pic>
        <p:nvPicPr>
          <p:cNvPr id="209" name="Google Shape;2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687" y="2081725"/>
            <a:ext cx="6390625" cy="22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演習</a:t>
            </a:r>
            <a:endParaRPr/>
          </a:p>
        </p:txBody>
      </p:sp>
      <p:sp>
        <p:nvSpPr>
          <p:cNvPr id="215" name="Google Shape;215;p3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演習コーディングタイムの講座の進め方は、まだ悩み中。</a:t>
            </a:r>
            <a:br>
              <a:rPr lang="ja"/>
            </a:br>
            <a:br>
              <a:rPr lang="ja"/>
            </a:br>
            <a:r>
              <a:rPr lang="ja"/>
              <a:t>・スライドでしていく or</a:t>
            </a:r>
            <a:br>
              <a:rPr lang="ja"/>
            </a:br>
            <a:r>
              <a:rPr lang="ja"/>
              <a:t>・Colabを見せながらコーディングしていく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7" title="Screenshot 2026-03-25 at 22.08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98841"/>
            <a:ext cx="9144001" cy="2444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7" title="Screenshot 2026-03-25 at 22.08.58.png"/>
          <p:cNvPicPr preferRelativeResize="0"/>
          <p:nvPr/>
        </p:nvPicPr>
        <p:blipFill rotWithShape="1">
          <a:blip r:embed="rId4">
            <a:alphaModFix/>
          </a:blip>
          <a:srcRect b="0" l="0" r="45166" t="0"/>
          <a:stretch/>
        </p:blipFill>
        <p:spPr>
          <a:xfrm>
            <a:off x="5624698" y="2698850"/>
            <a:ext cx="3461975" cy="244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まとめ</a:t>
            </a:r>
            <a:endParaRPr/>
          </a:p>
        </p:txBody>
      </p:sp>
      <p:pic>
        <p:nvPicPr>
          <p:cNvPr id="223" name="Google Shape;223;p38" title="Screenshot 2026-03-25 at 22.11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8761"/>
            <a:ext cx="9144003" cy="275033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まるバツゲームで扱うデータとは</a:t>
            </a:r>
            <a:endParaRPr/>
          </a:p>
        </p:txBody>
      </p:sp>
      <p:pic>
        <p:nvPicPr>
          <p:cNvPr id="236" name="Google Shape;236;p40" title="Screenshot 2026-03-25 at 21.56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45094"/>
            <a:ext cx="9144003" cy="95101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文字列（str）</a:t>
            </a:r>
            <a:endParaRPr/>
          </a:p>
        </p:txBody>
      </p:sp>
      <p:pic>
        <p:nvPicPr>
          <p:cNvPr id="243" name="Google Shape;243;p41" title="Screenshot 2026-03-25 at 21.57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24091"/>
            <a:ext cx="9144003" cy="175021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整数（int）</a:t>
            </a:r>
            <a:endParaRPr/>
          </a:p>
        </p:txBody>
      </p:sp>
      <p:pic>
        <p:nvPicPr>
          <p:cNvPr id="250" name="Google Shape;250;p42" title="Screenshot 2026-03-25 at 21.59.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25845"/>
            <a:ext cx="9144003" cy="197346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ブール値（bool）</a:t>
            </a:r>
            <a:endParaRPr/>
          </a:p>
        </p:txBody>
      </p:sp>
      <p:pic>
        <p:nvPicPr>
          <p:cNvPr id="257" name="Google Shape;257;p43" title="Screenshot 2026-03-25 at 22.00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05972"/>
            <a:ext cx="9144001" cy="118432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type()で型を確認する</a:t>
            </a:r>
            <a:endParaRPr/>
          </a:p>
        </p:txBody>
      </p:sp>
      <p:pic>
        <p:nvPicPr>
          <p:cNvPr id="264" name="Google Shape;264;p44" title="Screenshot 2026-03-25 at 22.01.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49502"/>
            <a:ext cx="9144003" cy="168324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変数への代入</a:t>
            </a:r>
            <a:endParaRPr/>
          </a:p>
        </p:txBody>
      </p:sp>
      <p:pic>
        <p:nvPicPr>
          <p:cNvPr id="271" name="Google Shape;271;p45" title="Screenshot 2026-03-25 at 22.05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07077"/>
            <a:ext cx="9144003" cy="241994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再代入で手を切り替える</a:t>
            </a:r>
            <a:endParaRPr/>
          </a:p>
        </p:txBody>
      </p:sp>
      <p:pic>
        <p:nvPicPr>
          <p:cNvPr id="278" name="Google Shape;278;p46" title="Screenshot 2026-03-25 at 22.0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0172"/>
            <a:ext cx="9144003" cy="255835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変数の命名規則</a:t>
            </a:r>
            <a:endParaRPr/>
          </a:p>
        </p:txBody>
      </p:sp>
      <p:pic>
        <p:nvPicPr>
          <p:cNvPr id="285" name="Google Shape;285;p47" title="Screenshot 2026-03-25 at 22.07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9941"/>
            <a:ext cx="9144003" cy="139303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変数の中身（データ）を表示する</a:t>
            </a:r>
            <a:endParaRPr/>
          </a:p>
        </p:txBody>
      </p:sp>
      <p:pic>
        <p:nvPicPr>
          <p:cNvPr id="292" name="Google Shape;292;p48" title="Screenshot 2026-03-25 at 23.33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311"/>
            <a:ext cx="9144003" cy="364777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