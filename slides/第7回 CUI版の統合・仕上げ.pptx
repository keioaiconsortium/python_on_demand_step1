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7e9e32c8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7e9e32c8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a567b1cf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a567b1c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ca81dae1d_5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dca81dae1d_5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ca81dae1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dca81dae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ca81dae1d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dca81dae1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ca81dae1d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dca81dae1d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a567b1cf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da567b1cf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a567b1cf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da567b1cf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a567b1cf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da567b1cf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a567b1cf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da567b1cf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a567b1cf2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da567b1cf2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" type="obj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31099" y="231377"/>
            <a:ext cx="1397000" cy="55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" type="title">
  <p:cSld name="TITLE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セクション見出し" type="secHead">
  <p:cSld name="SECTION_HEADER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2" name="Google Shape;72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つのコンテンツ" type="twoObj">
  <p:cSld name="TWO_OBJECT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5" name="Google Shape;85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7" name="Google Shape;87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のみ" type="titleOnly">
  <p:cSld name="TITLE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白紙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コンテンツ" type="objTx">
  <p:cSld name="OBJECT_WITH_CAPTIO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3" name="Google Shape;103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4" name="Google Shape;104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図" type="picTx">
  <p:cSld name="PICTURE_WITH_CAPTIO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1" name="Google Shape;111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縦書きテキスト" type="vertTx">
  <p:cSld name="VERTICAL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縦書きタイトルと&#10;縦書きテキスト" type="vertTitleAndTx">
  <p:cSld name="VERTICAL_TITLE_AND_VERTICAL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r>
              <a:rPr lang="ja"/>
              <a:t>1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drive.google.com/file/d/18Mq9Pr7gDRkCaa2eVNS1EckxG5ge9sLl/view" TargetMode="External"/><Relationship Id="rId4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250">
                <a:latin typeface="HiraMaruProN-W4"/>
                <a:ea typeface="HiraMaruProN-W4"/>
                <a:cs typeface="HiraMaruProN-W4"/>
                <a:sym typeface="HiraMaruProN-W4"/>
              </a:rPr>
              <a:t>Python入門オンデマンド講座</a:t>
            </a:r>
            <a:br>
              <a:rPr b="1" lang="ja">
                <a:latin typeface="HiraMaruProN-W4"/>
                <a:ea typeface="HiraMaruProN-W4"/>
                <a:cs typeface="HiraMaruProN-W4"/>
                <a:sym typeface="HiraMaruProN-W4"/>
              </a:rPr>
            </a:br>
            <a:r>
              <a:rPr b="1" lang="ja">
                <a:latin typeface="HiraMaruProN-W4"/>
                <a:ea typeface="HiraMaruProN-W4"/>
                <a:cs typeface="HiraMaruProN-W4"/>
                <a:sym typeface="HiraMaruProN-W4"/>
              </a:rPr>
              <a:t>第7回 CUI版の統合・仕上げ</a:t>
            </a:r>
            <a:endParaRPr b="1">
              <a:latin typeface="HiraMaruProN-W4"/>
              <a:ea typeface="HiraMaruProN-W4"/>
              <a:cs typeface="HiraMaruProN-W4"/>
              <a:sym typeface="HiraMaruProN-W4"/>
            </a:endParaRPr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ja">
                <a:latin typeface="HiraMaruProN-W4"/>
                <a:ea typeface="HiraMaruProN-W4"/>
                <a:cs typeface="HiraMaruProN-W4"/>
                <a:sym typeface="HiraMaruProN-W4"/>
              </a:rPr>
              <a:t>作成モジュール：リプレイ機能追加、CUI版完成</a:t>
            </a:r>
            <a:endParaRPr>
              <a:latin typeface="HiraMaruProN-W4"/>
              <a:ea typeface="HiraMaruProN-W4"/>
              <a:cs typeface="HiraMaruProN-W4"/>
              <a:sym typeface="HiraMaruProN-W4"/>
            </a:endParaRPr>
          </a:p>
        </p:txBody>
      </p:sp>
      <p:pic>
        <p:nvPicPr>
          <p:cNvPr id="132" name="Google Shape;132;p25" title="Screenshot 2026-03-25 at 20.47.3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447284"/>
            <a:ext cx="9144003" cy="11072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0" y="-6"/>
            <a:ext cx="7886700" cy="99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 u="sng">
                <a:latin typeface="HiraMaruProN-W4"/>
                <a:ea typeface="HiraMaruProN-W4"/>
                <a:cs typeface="HiraMaruProN-W4"/>
                <a:sym typeface="HiraMaruProN-W4"/>
              </a:rPr>
              <a:t>今回の小目標</a:t>
            </a:r>
            <a:endParaRPr b="1" sz="2000" u="sng">
              <a:latin typeface="HiraMaruProN-W4"/>
              <a:ea typeface="HiraMaruProN-W4"/>
              <a:cs typeface="HiraMaruProN-W4"/>
              <a:sym typeface="HiraMaruProN-W4"/>
            </a:endParaRPr>
          </a:p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ja"/>
              <a:t>リプレイ機能を追加し、CUI版マルバツゲームを完成させること</a:t>
            </a:r>
            <a:br>
              <a:rPr lang="ja"/>
            </a:br>
            <a:r>
              <a:rPr lang="ja"/>
              <a:t>まとめとして、</a:t>
            </a:r>
            <a:r>
              <a:rPr lang="ja"/>
              <a:t>これまでやってきたことの振り返る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7" title="CUI版完成品イメージ動画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"/>
            <a:ext cx="9144000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7"/>
          <p:cNvSpPr txBox="1"/>
          <p:nvPr>
            <p:ph type="title"/>
          </p:nvPr>
        </p:nvSpPr>
        <p:spPr>
          <a:xfrm>
            <a:off x="0" y="-6"/>
            <a:ext cx="7886700" cy="99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 u="sng">
                <a:latin typeface="HiraMaruProN-W4"/>
                <a:ea typeface="HiraMaruProN-W4"/>
                <a:cs typeface="HiraMaruProN-W4"/>
                <a:sym typeface="HiraMaruProN-W4"/>
              </a:rPr>
              <a:t>今回の小目標</a:t>
            </a:r>
            <a:endParaRPr b="1" sz="2000" u="sng">
              <a:latin typeface="HiraMaruProN-W4"/>
              <a:ea typeface="HiraMaruProN-W4"/>
              <a:cs typeface="HiraMaruProN-W4"/>
              <a:sym typeface="HiraMaruProN-W4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8" title="Screenshot 2026-03-28 at 21.32.53.png"/>
          <p:cNvPicPr preferRelativeResize="0"/>
          <p:nvPr/>
        </p:nvPicPr>
        <p:blipFill rotWithShape="1">
          <a:blip r:embed="rId3">
            <a:alphaModFix/>
          </a:blip>
          <a:srcRect b="37867" l="0" r="0" t="3688"/>
          <a:stretch/>
        </p:blipFill>
        <p:spPr>
          <a:xfrm>
            <a:off x="0" y="833770"/>
            <a:ext cx="9144003" cy="3475967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8"/>
          <p:cNvSpPr txBox="1"/>
          <p:nvPr>
            <p:ph type="title"/>
          </p:nvPr>
        </p:nvSpPr>
        <p:spPr>
          <a:xfrm>
            <a:off x="0" y="-6"/>
            <a:ext cx="7886700" cy="99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 u="sng">
                <a:latin typeface="HiraMaruProN-W4"/>
                <a:ea typeface="HiraMaruProN-W4"/>
                <a:cs typeface="HiraMaruProN-W4"/>
                <a:sym typeface="HiraMaruProN-W4"/>
              </a:rPr>
              <a:t>全コードの流れを振り返る</a:t>
            </a:r>
            <a:endParaRPr b="1" sz="2000" u="sng">
              <a:latin typeface="HiraMaruProN-W4"/>
              <a:ea typeface="HiraMaruProN-W4"/>
              <a:cs typeface="HiraMaruProN-W4"/>
              <a:sym typeface="HiraMaruProN-W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9" title="Screenshot 2026-03-28 at 21.32.53.png"/>
          <p:cNvPicPr preferRelativeResize="0"/>
          <p:nvPr/>
        </p:nvPicPr>
        <p:blipFill rotWithShape="1">
          <a:blip r:embed="rId3">
            <a:alphaModFix/>
          </a:blip>
          <a:srcRect b="37867" l="0" r="0" t="3688"/>
          <a:stretch/>
        </p:blipFill>
        <p:spPr>
          <a:xfrm>
            <a:off x="0" y="833770"/>
            <a:ext cx="9144003" cy="3475967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9"/>
          <p:cNvSpPr txBox="1"/>
          <p:nvPr>
            <p:ph type="title"/>
          </p:nvPr>
        </p:nvSpPr>
        <p:spPr>
          <a:xfrm>
            <a:off x="0" y="-6"/>
            <a:ext cx="7886700" cy="99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 u="sng">
                <a:latin typeface="HiraMaruProN-W4"/>
                <a:ea typeface="HiraMaruProN-W4"/>
                <a:cs typeface="HiraMaruProN-W4"/>
                <a:sym typeface="HiraMaruProN-W4"/>
              </a:rPr>
              <a:t>全コードの流れを振り返る</a:t>
            </a:r>
            <a:endParaRPr b="1" sz="2000" u="sng">
              <a:latin typeface="HiraMaruProN-W4"/>
              <a:ea typeface="HiraMaruProN-W4"/>
              <a:cs typeface="HiraMaruProN-W4"/>
              <a:sym typeface="HiraMaruProN-W4"/>
            </a:endParaRPr>
          </a:p>
        </p:txBody>
      </p:sp>
      <p:sp>
        <p:nvSpPr>
          <p:cNvPr id="157" name="Google Shape;157;p29"/>
          <p:cNvSpPr txBox="1"/>
          <p:nvPr/>
        </p:nvSpPr>
        <p:spPr>
          <a:xfrm>
            <a:off x="3184200" y="1337025"/>
            <a:ext cx="4702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1"/>
                </a:solidFill>
                <a:latin typeface="HiraMaruProN-W4"/>
                <a:ea typeface="HiraMaruProN-W4"/>
                <a:cs typeface="HiraMaruProN-W4"/>
                <a:sym typeface="HiraMaruProN-W4"/>
              </a:rPr>
              <a:t>1. </a:t>
            </a:r>
            <a:r>
              <a:rPr lang="ja" sz="1100">
                <a:solidFill>
                  <a:schemeClr val="dk1"/>
                </a:solidFill>
                <a:latin typeface="HiraMaruProN-W4"/>
                <a:ea typeface="HiraMaruProN-W4"/>
                <a:cs typeface="HiraMaruProN-W4"/>
                <a:sym typeface="HiraMaruProN-W4"/>
              </a:rPr>
              <a:t>盤面と手番を初期化して返す</a:t>
            </a:r>
            <a:endParaRPr sz="1100">
              <a:solidFill>
                <a:schemeClr val="dk1"/>
              </a:solidFill>
              <a:latin typeface="HiraMaruProN-W4"/>
              <a:ea typeface="HiraMaruProN-W4"/>
              <a:cs typeface="HiraMaruProN-W4"/>
              <a:sym typeface="HiraMaruProN-W4"/>
            </a:endParaRPr>
          </a:p>
        </p:txBody>
      </p:sp>
      <p:sp>
        <p:nvSpPr>
          <p:cNvPr id="158" name="Google Shape;158;p29"/>
          <p:cNvSpPr txBox="1"/>
          <p:nvPr/>
        </p:nvSpPr>
        <p:spPr>
          <a:xfrm>
            <a:off x="3184200" y="1691025"/>
            <a:ext cx="4702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1"/>
                </a:solidFill>
                <a:latin typeface="HiraMaruProN-W4"/>
                <a:ea typeface="HiraMaruProN-W4"/>
                <a:cs typeface="HiraMaruProN-W4"/>
                <a:sym typeface="HiraMaruProN-W4"/>
              </a:rPr>
              <a:t>2. 盤面を3×3で表示する</a:t>
            </a:r>
            <a:endParaRPr sz="1100">
              <a:solidFill>
                <a:schemeClr val="dk1"/>
              </a:solidFill>
              <a:latin typeface="HiraMaruProN-W4"/>
              <a:ea typeface="HiraMaruProN-W4"/>
              <a:cs typeface="HiraMaruProN-W4"/>
              <a:sym typeface="HiraMaruProN-W4"/>
            </a:endParaRPr>
          </a:p>
        </p:txBody>
      </p:sp>
      <p:sp>
        <p:nvSpPr>
          <p:cNvPr id="159" name="Google Shape;159;p29"/>
          <p:cNvSpPr txBox="1"/>
          <p:nvPr/>
        </p:nvSpPr>
        <p:spPr>
          <a:xfrm>
            <a:off x="3184200" y="2045025"/>
            <a:ext cx="4702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1"/>
                </a:solidFill>
                <a:latin typeface="HiraMaruProN-W4"/>
                <a:ea typeface="HiraMaruProN-W4"/>
                <a:cs typeface="HiraMaruProN-W4"/>
                <a:sym typeface="HiraMaruProN-W4"/>
              </a:rPr>
              <a:t>3. 指定位置に置けるかどうかを返す</a:t>
            </a:r>
            <a:endParaRPr sz="1100">
              <a:solidFill>
                <a:schemeClr val="dk1"/>
              </a:solidFill>
              <a:latin typeface="HiraMaruProN-W4"/>
              <a:ea typeface="HiraMaruProN-W4"/>
              <a:cs typeface="HiraMaruProN-W4"/>
              <a:sym typeface="HiraMaruProN-W4"/>
            </a:endParaRPr>
          </a:p>
        </p:txBody>
      </p:sp>
      <p:sp>
        <p:nvSpPr>
          <p:cNvPr id="160" name="Google Shape;160;p29"/>
          <p:cNvSpPr txBox="1"/>
          <p:nvPr/>
        </p:nvSpPr>
        <p:spPr>
          <a:xfrm>
            <a:off x="3184200" y="2399025"/>
            <a:ext cx="4702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1"/>
                </a:solidFill>
                <a:latin typeface="HiraMaruProN-W4"/>
                <a:ea typeface="HiraMaruProN-W4"/>
                <a:cs typeface="HiraMaruProN-W4"/>
                <a:sym typeface="HiraMaruProN-W4"/>
              </a:rPr>
              <a:t>4. 有効な手なら盤面にマークを置き、成否を返す</a:t>
            </a:r>
            <a:endParaRPr sz="1100">
              <a:solidFill>
                <a:schemeClr val="dk1"/>
              </a:solidFill>
              <a:latin typeface="HiraMaruProN-W4"/>
              <a:ea typeface="HiraMaruProN-W4"/>
              <a:cs typeface="HiraMaruProN-W4"/>
              <a:sym typeface="HiraMaruProN-W4"/>
            </a:endParaRPr>
          </a:p>
        </p:txBody>
      </p:sp>
      <p:sp>
        <p:nvSpPr>
          <p:cNvPr id="161" name="Google Shape;161;p29"/>
          <p:cNvSpPr txBox="1"/>
          <p:nvPr/>
        </p:nvSpPr>
        <p:spPr>
          <a:xfrm>
            <a:off x="3184200" y="2753025"/>
            <a:ext cx="4702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1"/>
                </a:solidFill>
                <a:latin typeface="HiraMaruProN-W4"/>
                <a:ea typeface="HiraMaruProN-W4"/>
                <a:cs typeface="HiraMaruProN-W4"/>
                <a:sym typeface="HiraMaruProN-W4"/>
              </a:rPr>
              <a:t>5. 手番を切り替えて返す</a:t>
            </a:r>
            <a:endParaRPr sz="1100">
              <a:solidFill>
                <a:schemeClr val="dk1"/>
              </a:solidFill>
              <a:latin typeface="HiraMaruProN-W4"/>
              <a:ea typeface="HiraMaruProN-W4"/>
              <a:cs typeface="HiraMaruProN-W4"/>
              <a:sym typeface="HiraMaruProN-W4"/>
            </a:endParaRPr>
          </a:p>
        </p:txBody>
      </p:sp>
      <p:sp>
        <p:nvSpPr>
          <p:cNvPr id="162" name="Google Shape;162;p29"/>
          <p:cNvSpPr txBox="1"/>
          <p:nvPr/>
        </p:nvSpPr>
        <p:spPr>
          <a:xfrm>
            <a:off x="3184200" y="3107025"/>
            <a:ext cx="4702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1"/>
                </a:solidFill>
                <a:latin typeface="HiraMaruProN-W4"/>
                <a:ea typeface="HiraMaruProN-W4"/>
                <a:cs typeface="HiraMaruProN-W4"/>
                <a:sym typeface="HiraMaruProN-W4"/>
              </a:rPr>
              <a:t>6. 勝者がいれば 'X' または 'O'、いなければ None を返す</a:t>
            </a:r>
            <a:endParaRPr sz="1100">
              <a:solidFill>
                <a:schemeClr val="dk1"/>
              </a:solidFill>
              <a:latin typeface="HiraMaruProN-W4"/>
              <a:ea typeface="HiraMaruProN-W4"/>
              <a:cs typeface="HiraMaruProN-W4"/>
              <a:sym typeface="HiraMaruProN-W4"/>
            </a:endParaRPr>
          </a:p>
        </p:txBody>
      </p:sp>
      <p:sp>
        <p:nvSpPr>
          <p:cNvPr id="163" name="Google Shape;163;p29"/>
          <p:cNvSpPr txBox="1"/>
          <p:nvPr/>
        </p:nvSpPr>
        <p:spPr>
          <a:xfrm>
            <a:off x="3184200" y="3461025"/>
            <a:ext cx="4702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1"/>
                </a:solidFill>
                <a:latin typeface="HiraMaruProN-W4"/>
                <a:ea typeface="HiraMaruProN-W4"/>
                <a:cs typeface="HiraMaruProN-W4"/>
                <a:sym typeface="HiraMaruProN-W4"/>
              </a:rPr>
              <a:t>7. 引き分けなら True を返す</a:t>
            </a:r>
            <a:endParaRPr sz="1100">
              <a:solidFill>
                <a:schemeClr val="dk1"/>
              </a:solidFill>
              <a:latin typeface="HiraMaruProN-W4"/>
              <a:ea typeface="HiraMaruProN-W4"/>
              <a:cs typeface="HiraMaruProN-W4"/>
              <a:sym typeface="HiraMaruProN-W4"/>
            </a:endParaRPr>
          </a:p>
        </p:txBody>
      </p:sp>
      <p:sp>
        <p:nvSpPr>
          <p:cNvPr id="164" name="Google Shape;164;p29"/>
          <p:cNvSpPr txBox="1"/>
          <p:nvPr/>
        </p:nvSpPr>
        <p:spPr>
          <a:xfrm>
            <a:off x="3184200" y="3815025"/>
            <a:ext cx="4702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1"/>
                </a:solidFill>
                <a:latin typeface="HiraMaruProN-W4"/>
                <a:ea typeface="HiraMaruProN-W4"/>
                <a:cs typeface="HiraMaruProN-W4"/>
                <a:sym typeface="HiraMaruProN-W4"/>
              </a:rPr>
              <a:t>8. ゲーム状態を文字列で返す。継続中は None を返す</a:t>
            </a:r>
            <a:endParaRPr sz="1100">
              <a:solidFill>
                <a:schemeClr val="dk1"/>
              </a:solidFill>
              <a:latin typeface="HiraMaruProN-W4"/>
              <a:ea typeface="HiraMaruProN-W4"/>
              <a:cs typeface="HiraMaruProN-W4"/>
              <a:sym typeface="HiraMaruProN-W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このスライドの見栄えを良くする" id="169" name="Google Shape;16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31" title="Screenshot 2026-03-25 at 20.53.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40874"/>
            <a:ext cx="9144003" cy="1790403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31"/>
          <p:cNvSpPr txBox="1"/>
          <p:nvPr>
            <p:ph type="title"/>
          </p:nvPr>
        </p:nvSpPr>
        <p:spPr>
          <a:xfrm>
            <a:off x="0" y="-6"/>
            <a:ext cx="7886700" cy="99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 u="sng">
                <a:latin typeface="HiraMaruProN-W4"/>
                <a:ea typeface="HiraMaruProN-W4"/>
                <a:cs typeface="HiraMaruProN-W4"/>
                <a:sym typeface="HiraMaruProN-W4"/>
              </a:rPr>
              <a:t>リプレイ機能の設計</a:t>
            </a:r>
            <a:endParaRPr b="1" sz="2000" u="sng">
              <a:latin typeface="HiraMaruProN-W4"/>
              <a:ea typeface="HiraMaruProN-W4"/>
              <a:cs typeface="HiraMaruProN-W4"/>
              <a:sym typeface="HiraMaruProN-W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32" title="Screenshot 2026-03-25 at 20.55.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50631"/>
            <a:ext cx="9144003" cy="2357438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2"/>
          <p:cNvSpPr txBox="1"/>
          <p:nvPr>
            <p:ph type="title"/>
          </p:nvPr>
        </p:nvSpPr>
        <p:spPr>
          <a:xfrm>
            <a:off x="0" y="-6"/>
            <a:ext cx="7886700" cy="99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 u="sng">
                <a:latin typeface="HiraMaruProN-W4"/>
                <a:ea typeface="HiraMaruProN-W4"/>
                <a:cs typeface="HiraMaruProN-W4"/>
                <a:sym typeface="HiraMaruProN-W4"/>
              </a:rPr>
              <a:t>play_game_loop()の実装</a:t>
            </a:r>
            <a:endParaRPr b="1" sz="2000" u="sng">
              <a:latin typeface="HiraMaruProN-W4"/>
              <a:ea typeface="HiraMaruProN-W4"/>
              <a:cs typeface="HiraMaruProN-W4"/>
              <a:sym typeface="HiraMaruProN-W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全コードの最終確認</a:t>
            </a:r>
            <a:endParaRPr/>
          </a:p>
        </p:txBody>
      </p:sp>
      <p:pic>
        <p:nvPicPr>
          <p:cNvPr id="187" name="Google Shape;187;p33" title="Screenshot 2026-03-25 at 20.56.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93271"/>
            <a:ext cx="9144003" cy="2227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演習</a:t>
            </a:r>
            <a:endParaRPr/>
          </a:p>
        </p:txBody>
      </p:sp>
      <p:pic>
        <p:nvPicPr>
          <p:cNvPr id="193" name="Google Shape;193;p34" title="Screenshot 2026-03-25 at 20.57.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607464"/>
            <a:ext cx="4572001" cy="253603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4"/>
          <p:cNvSpPr txBox="1"/>
          <p:nvPr/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ja" sz="2100">
                <a:solidFill>
                  <a:srgbClr val="000000"/>
                </a:solidFill>
              </a:rPr>
              <a:t>演習コーディングタイムの講座の進め方は、まだ悩み中。</a:t>
            </a:r>
            <a:br>
              <a:rPr lang="ja" sz="2100">
                <a:solidFill>
                  <a:srgbClr val="000000"/>
                </a:solidFill>
              </a:rPr>
            </a:br>
            <a:br>
              <a:rPr lang="ja" sz="2100">
                <a:solidFill>
                  <a:srgbClr val="000000"/>
                </a:solidFill>
              </a:rPr>
            </a:br>
            <a:r>
              <a:rPr lang="ja" sz="2100">
                <a:solidFill>
                  <a:srgbClr val="000000"/>
                </a:solidFill>
              </a:rPr>
              <a:t>・スライドでしていく or</a:t>
            </a:r>
            <a:br>
              <a:rPr lang="ja" sz="2100">
                <a:solidFill>
                  <a:srgbClr val="000000"/>
                </a:solidFill>
              </a:rPr>
            </a:br>
            <a:r>
              <a:rPr lang="ja" sz="2100">
                <a:solidFill>
                  <a:srgbClr val="000000"/>
                </a:solidFill>
              </a:rPr>
              <a:t>・Colabを見せながらコーディングしていく</a:t>
            </a:r>
            <a:endParaRPr sz="21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まとめ</a:t>
            </a:r>
            <a:endParaRPr/>
          </a:p>
        </p:txBody>
      </p:sp>
      <p:pic>
        <p:nvPicPr>
          <p:cNvPr id="200" name="Google Shape;200;p35" title="Screenshot 2026-03-25 at 20.58.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313" y="1111025"/>
            <a:ext cx="8869373" cy="3881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テーマ">
  <a:themeElements>
    <a:clrScheme name="緑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