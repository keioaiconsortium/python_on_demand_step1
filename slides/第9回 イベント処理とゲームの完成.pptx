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2D4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4114800"/>
          </a:xfrm>
          <a:prstGeom prst="rect">
            <a:avLst/>
          </a:prstGeom>
          <a:solidFill>
            <a:srgbClr val="122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601200" y="-914400"/>
            <a:ext cx="4572000" cy="4572000"/>
          </a:xfrm>
          <a:prstGeom prst="ellipse">
            <a:avLst/>
          </a:prstGeom>
          <a:solidFill>
            <a:srgbClr val="2E5E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058400" y="3657600"/>
            <a:ext cx="2743200" cy="2743200"/>
          </a:xfrm>
          <a:prstGeom prst="ellipse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48640" y="914400"/>
            <a:ext cx="1645920" cy="548640"/>
          </a:xfrm>
          <a:prstGeom prst="roundRect">
            <a:avLst>
              <a:gd name="adj" fmla="val 5000"/>
            </a:avLst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914400"/>
            <a:ext cx="1645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Noto Sans JP"/>
              </a:rPr>
              <a:t>第9回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64592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200" b="1">
                <a:solidFill>
                  <a:srgbClr val="FFFFFF"/>
                </a:solidFill>
                <a:latin typeface="Noto Sans JP"/>
              </a:rPr>
              <a:t>イベント処理と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46888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200" b="1">
                <a:solidFill>
                  <a:srgbClr val="FFD700"/>
                </a:solidFill>
                <a:latin typeface="Noto Sans JP"/>
              </a:rPr>
              <a:t>ゲームの完成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356616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99AABB"/>
                </a:solidFill>
                <a:latin typeface="Noto Sans JP"/>
              </a:rPr>
              <a:t>Python入門オンデマンド講座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4114800"/>
            <a:ext cx="5486400" cy="4572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429768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99AABB"/>
                </a:solidFill>
                <a:latin typeface="Noto Sans JP"/>
              </a:rPr>
              <a:t>🎯  クリック処理・リセット接続・GUI版完成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2D4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Noto Sans JP"/>
              </a:rPr>
              <a:t>今回の小目標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777240"/>
            <a:ext cx="10515600" cy="36576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914400"/>
            <a:ext cx="10332720" cy="914400"/>
          </a:xfrm>
          <a:prstGeom prst="roundRect">
            <a:avLst>
              <a:gd name="adj" fmla="val 5000"/>
            </a:avLst>
          </a:prstGeom>
          <a:solidFill>
            <a:srgbClr val="FF6B35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914400"/>
            <a:ext cx="10332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Noto Sans JP"/>
              </a:rPr>
              <a:t>ボタンクリック時にロジック関数を呼び出し、結果をUIに反映させること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846320" y="1828800"/>
            <a:ext cx="2560320" cy="502920"/>
          </a:xfrm>
          <a:prstGeom prst="roundRect">
            <a:avLst>
              <a:gd name="adj" fmla="val 5000"/>
            </a:avLst>
          </a:prstGeom>
          <a:solidFill>
            <a:srgbClr val="2E5E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846320" y="1828800"/>
            <a:ext cx="2560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Noto Sans JP"/>
              </a:rPr>
              <a:t>GUI付きまるバツゲーム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14400" y="2606040"/>
            <a:ext cx="2011680" cy="502920"/>
          </a:xfrm>
          <a:prstGeom prst="roundRect">
            <a:avLst>
              <a:gd name="adj" fmla="val 5000"/>
            </a:avLst>
          </a:prstGeom>
          <a:solidFill>
            <a:srgbClr val="1A6B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2606040"/>
            <a:ext cx="2011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FFFFFF"/>
                </a:solidFill>
                <a:latin typeface="Noto Sans JP"/>
              </a:rPr>
              <a:t>ゲームロジック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144000" y="2606040"/>
            <a:ext cx="1828800" cy="502920"/>
          </a:xfrm>
          <a:prstGeom prst="roundRect">
            <a:avLst>
              <a:gd name="adj" fmla="val 5000"/>
            </a:avLst>
          </a:prstGeom>
          <a:solidFill>
            <a:srgbClr val="5A1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0" y="2606040"/>
            <a:ext cx="1828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FFFFFF"/>
                </a:solidFill>
                <a:latin typeface="Noto Sans JP"/>
              </a:rPr>
              <a:t>Gradio UI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37160" y="3291840"/>
            <a:ext cx="1920240" cy="402336"/>
          </a:xfrm>
          <a:prstGeom prst="roundRect">
            <a:avLst>
              <a:gd name="adj" fmla="val 5000"/>
            </a:avLst>
          </a:prstGeom>
          <a:solidFill>
            <a:srgbClr val="2C7A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37160" y="3291840"/>
            <a:ext cx="19202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FFFFFF"/>
                </a:solidFill>
                <a:latin typeface="Noto Sans JP"/>
              </a:rPr>
              <a:t>第1回 変数・データ型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37160" y="3767328"/>
            <a:ext cx="1920240" cy="402336"/>
          </a:xfrm>
          <a:prstGeom prst="roundRect">
            <a:avLst>
              <a:gd name="adj" fmla="val 5000"/>
            </a:avLst>
          </a:prstGeom>
          <a:solidFill>
            <a:srgbClr val="2C7A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37160" y="3767328"/>
            <a:ext cx="19202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FFFFFF"/>
                </a:solidFill>
                <a:latin typeface="Noto Sans JP"/>
              </a:rPr>
              <a:t>第2回 リスト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37160" y="4242816"/>
            <a:ext cx="1920240" cy="402336"/>
          </a:xfrm>
          <a:prstGeom prst="roundRect">
            <a:avLst>
              <a:gd name="adj" fmla="val 5000"/>
            </a:avLst>
          </a:prstGeom>
          <a:solidFill>
            <a:srgbClr val="2C7A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37160" y="4242816"/>
            <a:ext cx="19202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FFFFFF"/>
                </a:solidFill>
                <a:latin typeface="Noto Sans JP"/>
              </a:rPr>
              <a:t>第3回 制御文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37160" y="4718304"/>
            <a:ext cx="1920240" cy="402336"/>
          </a:xfrm>
          <a:prstGeom prst="roundRect">
            <a:avLst>
              <a:gd name="adj" fmla="val 5000"/>
            </a:avLst>
          </a:prstGeom>
          <a:solidFill>
            <a:srgbClr val="2C7A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37160" y="4718304"/>
            <a:ext cx="19202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FFFFFF"/>
                </a:solidFill>
                <a:latin typeface="Noto Sans JP"/>
              </a:rPr>
              <a:t>第4回 forループ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37160" y="5193792"/>
            <a:ext cx="1920240" cy="402336"/>
          </a:xfrm>
          <a:prstGeom prst="roundRect">
            <a:avLst>
              <a:gd name="adj" fmla="val 5000"/>
            </a:avLst>
          </a:prstGeom>
          <a:solidFill>
            <a:srgbClr val="2C7A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37160" y="5193792"/>
            <a:ext cx="19202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FFFFFF"/>
                </a:solidFill>
                <a:latin typeface="Noto Sans JP"/>
              </a:rPr>
              <a:t>第5回 関数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37160" y="5669280"/>
            <a:ext cx="1920240" cy="402336"/>
          </a:xfrm>
          <a:prstGeom prst="roundRect">
            <a:avLst>
              <a:gd name="adj" fmla="val 5000"/>
            </a:avLst>
          </a:prstGeom>
          <a:solidFill>
            <a:srgbClr val="2C7A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37160" y="5669280"/>
            <a:ext cx="19202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FFFFFF"/>
                </a:solidFill>
                <a:latin typeface="Noto Sans JP"/>
              </a:rPr>
              <a:t>第6回 whileループ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37160" y="6144768"/>
            <a:ext cx="1920240" cy="402336"/>
          </a:xfrm>
          <a:prstGeom prst="roundRect">
            <a:avLst>
              <a:gd name="adj" fmla="val 5000"/>
            </a:avLst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37160" y="6144768"/>
            <a:ext cx="19202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FFFFFF"/>
                </a:solidFill>
                <a:latin typeface="Noto Sans JP"/>
              </a:rPr>
              <a:t>第7回 CUI版完成 ✅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144000" y="3291840"/>
            <a:ext cx="2651760" cy="402336"/>
          </a:xfrm>
          <a:prstGeom prst="roundRect">
            <a:avLst>
              <a:gd name="adj" fmla="val 5000"/>
            </a:avLst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144000" y="3291840"/>
            <a:ext cx="26517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FFFFFF"/>
                </a:solidFill>
                <a:latin typeface="Noto Sans JP"/>
              </a:rPr>
              <a:t>第8回 import・Gradio基礎 ✅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9052560" y="3840480"/>
            <a:ext cx="2834640" cy="548640"/>
          </a:xfrm>
          <a:prstGeom prst="roundRect">
            <a:avLst>
              <a:gd name="adj" fmla="val 5000"/>
            </a:avLst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052560" y="3840480"/>
            <a:ext cx="2834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1A2D4E"/>
                </a:solidFill>
                <a:latin typeface="Noto Sans JP"/>
              </a:rPr>
              <a:t>★ 第9回 イベント処理・完成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2D4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Noto Sans JP"/>
              </a:rPr>
              <a:t>イベント駆動プログラミングとは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777240"/>
            <a:ext cx="10515600" cy="36576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274320" y="1005840"/>
            <a:ext cx="3200400" cy="5303520"/>
          </a:xfrm>
          <a:prstGeom prst="roundRect">
            <a:avLst>
              <a:gd name="adj" fmla="val 5000"/>
            </a:avLst>
          </a:prstGeom>
          <a:solidFill>
            <a:srgbClr val="1A2D4E"/>
          </a:solidFill>
          <a:ln w="12700">
            <a:solidFill>
              <a:srgbClr val="99AA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100584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99AABB"/>
                </a:solidFill>
                <a:latin typeface="Noto Sans JP"/>
              </a:rPr>
              <a:t>従来（手続き型）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600200"/>
            <a:ext cx="2743200" cy="594360"/>
          </a:xfrm>
          <a:prstGeom prst="roundRect">
            <a:avLst>
              <a:gd name="adj" fmla="val 5000"/>
            </a:avLst>
          </a:prstGeom>
          <a:solidFill>
            <a:srgbClr val="2E4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600200"/>
            <a:ext cx="2743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99AABB"/>
                </a:solidFill>
                <a:latin typeface="Noto Sans JP"/>
              </a:rPr>
              <a:t>① データ入力を待つ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1828800" y="2194560"/>
            <a:ext cx="0" cy="182880"/>
          </a:xfrm>
          <a:prstGeom prst="bentConnector3">
            <a:avLst/>
          </a:prstGeom>
          <a:ln w="19050">
            <a:solidFill>
              <a:srgbClr val="99AABB"/>
            </a:solidFill>
            <a:tailEnd type="none"/>
            <a:head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457200" y="2441448"/>
            <a:ext cx="2743200" cy="594360"/>
          </a:xfrm>
          <a:prstGeom prst="roundRect">
            <a:avLst>
              <a:gd name="adj" fmla="val 5000"/>
            </a:avLst>
          </a:prstGeom>
          <a:solidFill>
            <a:srgbClr val="2E4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2441448"/>
            <a:ext cx="2743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99AABB"/>
                </a:solidFill>
                <a:latin typeface="Noto Sans JP"/>
              </a:rPr>
              <a:t>② 入力を受け取る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1828800" y="3035808"/>
            <a:ext cx="0" cy="182880"/>
          </a:xfrm>
          <a:prstGeom prst="bentConnector3">
            <a:avLst/>
          </a:prstGeom>
          <a:ln w="19050">
            <a:solidFill>
              <a:srgbClr val="99AABB"/>
            </a:solidFill>
            <a:tailEnd type="none"/>
            <a:head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457200" y="3282696"/>
            <a:ext cx="2743200" cy="594360"/>
          </a:xfrm>
          <a:prstGeom prst="roundRect">
            <a:avLst>
              <a:gd name="adj" fmla="val 5000"/>
            </a:avLst>
          </a:prstGeom>
          <a:solidFill>
            <a:srgbClr val="2E4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" y="3282696"/>
            <a:ext cx="2743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99AABB"/>
                </a:solidFill>
                <a:latin typeface="Noto Sans JP"/>
              </a:rPr>
              <a:t>③ ゲームロジック実行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1828800" y="3877056"/>
            <a:ext cx="0" cy="182880"/>
          </a:xfrm>
          <a:prstGeom prst="bentConnector3">
            <a:avLst/>
          </a:prstGeom>
          <a:ln w="19050">
            <a:solidFill>
              <a:srgbClr val="99AABB"/>
            </a:solidFill>
            <a:tailEnd type="none"/>
            <a:head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457200" y="4123944"/>
            <a:ext cx="2743200" cy="594360"/>
          </a:xfrm>
          <a:prstGeom prst="roundRect">
            <a:avLst>
              <a:gd name="adj" fmla="val 5000"/>
            </a:avLst>
          </a:prstGeom>
          <a:solidFill>
            <a:srgbClr val="2E4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7200" y="4123944"/>
            <a:ext cx="2743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99AABB"/>
                </a:solidFill>
                <a:latin typeface="Noto Sans JP"/>
              </a:rPr>
              <a:t>④ 結果を表示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1828800" y="4718304"/>
            <a:ext cx="0" cy="182880"/>
          </a:xfrm>
          <a:prstGeom prst="bentConnector3">
            <a:avLst/>
          </a:prstGeom>
          <a:ln w="19050">
            <a:solidFill>
              <a:srgbClr val="99AABB"/>
            </a:solidFill>
            <a:tailEnd type="none"/>
            <a:head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457200" y="4965192"/>
            <a:ext cx="2743200" cy="594360"/>
          </a:xfrm>
          <a:prstGeom prst="roundRect">
            <a:avLst>
              <a:gd name="adj" fmla="val 5000"/>
            </a:avLst>
          </a:prstGeom>
          <a:solidFill>
            <a:srgbClr val="2E4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7200" y="4965192"/>
            <a:ext cx="2743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99AABB"/>
                </a:solidFill>
                <a:latin typeface="Noto Sans JP"/>
              </a:rPr>
              <a:t>⑤ ループへ戻る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566160" y="3200400"/>
            <a:ext cx="731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99AABB"/>
                </a:solidFill>
                <a:latin typeface="Noto Sans JP"/>
              </a:rPr>
              <a:t>VS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389120" y="1005840"/>
            <a:ext cx="7498079" cy="5303520"/>
          </a:xfrm>
          <a:prstGeom prst="roundRect">
            <a:avLst>
              <a:gd name="adj" fmla="val 5000"/>
            </a:avLst>
          </a:prstGeom>
          <a:solidFill>
            <a:srgbClr val="1A2D4E"/>
          </a:solidFill>
          <a:ln w="25400">
            <a:solidFill>
              <a:srgbClr val="FF6B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389120" y="1005840"/>
            <a:ext cx="749807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6B35"/>
                </a:solidFill>
                <a:latin typeface="Noto Sans JP"/>
              </a:rPr>
              <a:t>イベント駆動型（GUIアプリ）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663440" y="2103120"/>
            <a:ext cx="1371600" cy="1188720"/>
          </a:xfrm>
          <a:prstGeom prst="roundRect">
            <a:avLst>
              <a:gd name="adj" fmla="val 5000"/>
            </a:avLst>
          </a:prstGeom>
          <a:solidFill>
            <a:srgbClr val="5A2A10"/>
          </a:solidFill>
          <a:ln w="25400">
            <a:solidFill>
              <a:srgbClr val="FF6B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663440" y="2103120"/>
            <a:ext cx="13716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Noto Sans JP"/>
              </a:rPr>
              <a:t>👆  ボタンを
クリック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6080760" y="2697480.0"/>
            <a:ext cx="365760" cy="0.0"/>
          </a:xfrm>
          <a:prstGeom prst="bentConnector3">
            <a:avLst/>
          </a:prstGeom>
          <a:ln w="31750">
            <a:solidFill>
              <a:srgbClr val="FF6B35"/>
            </a:solidFill>
            <a:tailEnd type="none"/>
            <a:head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ounded Rectangle 26"/>
          <p:cNvSpPr/>
          <p:nvPr/>
        </p:nvSpPr>
        <p:spPr>
          <a:xfrm>
            <a:off x="6492240" y="2103120"/>
            <a:ext cx="1371600" cy="1188720"/>
          </a:xfrm>
          <a:prstGeom prst="roundRect">
            <a:avLst>
              <a:gd name="adj" fmla="val 5000"/>
            </a:avLst>
          </a:prstGeom>
          <a:solidFill>
            <a:srgbClr val="5A4A10"/>
          </a:solidFill>
          <a:ln w="25400">
            <a:solidFill>
              <a:srgbClr val="FFD7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92240" y="2103120"/>
            <a:ext cx="13716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Noto Sans JP"/>
              </a:rPr>
              <a:t>⚡  イベント
発火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7909560" y="2697480.0"/>
            <a:ext cx="365760" cy="0.0"/>
          </a:xfrm>
          <a:prstGeom prst="bentConnector3">
            <a:avLst/>
          </a:prstGeom>
          <a:ln w="31750">
            <a:solidFill>
              <a:srgbClr val="FF6B35"/>
            </a:solidFill>
            <a:tailEnd type="none"/>
            <a:head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ounded Rectangle 29"/>
          <p:cNvSpPr/>
          <p:nvPr/>
        </p:nvSpPr>
        <p:spPr>
          <a:xfrm>
            <a:off x="8321040" y="2103120"/>
            <a:ext cx="1371600" cy="1188720"/>
          </a:xfrm>
          <a:prstGeom prst="roundRect">
            <a:avLst>
              <a:gd name="adj" fmla="val 5000"/>
            </a:avLst>
          </a:prstGeom>
          <a:solidFill>
            <a:srgbClr val="103A3A"/>
          </a:solidFill>
          <a:ln w="25400">
            <a:solidFill>
              <a:srgbClr val="1ABC9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321040" y="2103120"/>
            <a:ext cx="13716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Noto Sans JP"/>
              </a:rPr>
              <a:t>⚙️  コールバック
関数が実行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9738360" y="2697480.0"/>
            <a:ext cx="365760" cy="0.0"/>
          </a:xfrm>
          <a:prstGeom prst="bentConnector3">
            <a:avLst/>
          </a:prstGeom>
          <a:ln w="31750">
            <a:solidFill>
              <a:srgbClr val="FF6B35"/>
            </a:solidFill>
            <a:tailEnd type="none"/>
            <a:head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Rounded Rectangle 32"/>
          <p:cNvSpPr/>
          <p:nvPr/>
        </p:nvSpPr>
        <p:spPr>
          <a:xfrm>
            <a:off x="10149840" y="2103120"/>
            <a:ext cx="1371600" cy="1188720"/>
          </a:xfrm>
          <a:prstGeom prst="roundRect">
            <a:avLst>
              <a:gd name="adj" fmla="val 5000"/>
            </a:avLst>
          </a:prstGeom>
          <a:solidFill>
            <a:srgbClr val="10204A"/>
          </a:solidFill>
          <a:ln w="25400">
            <a:solidFill>
              <a:srgbClr val="2E5E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0149840" y="2103120"/>
            <a:ext cx="13716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Noto Sans JP"/>
              </a:rPr>
              <a:t>🖥️  UIが
更新される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4480560" y="3566160"/>
            <a:ext cx="7315200" cy="594360"/>
          </a:xfrm>
          <a:prstGeom prst="roundRect">
            <a:avLst>
              <a:gd name="adj" fmla="val 5000"/>
            </a:avLst>
          </a:prstGeom>
          <a:solidFill>
            <a:srgbClr val="3A1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480560" y="3566160"/>
            <a:ext cx="7315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6B35"/>
                </a:solidFill>
                <a:latin typeface="Noto Sans JP"/>
              </a:rPr>
              <a:t>「待つ」のではなく「起きたとき」に反応する設計！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572000" y="429768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99AABB"/>
                </a:solidFill>
                <a:latin typeface="Noto Sans JP"/>
              </a:rPr>
              <a:t>Gradioでは：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4572000" y="4709160"/>
            <a:ext cx="2286000" cy="502920"/>
          </a:xfrm>
          <a:prstGeom prst="roundRect">
            <a:avLst>
              <a:gd name="adj" fmla="val 5000"/>
            </a:avLst>
          </a:prstGeom>
          <a:solidFill>
            <a:srgbClr val="1A2D45"/>
          </a:solidFill>
          <a:ln w="19050">
            <a:solidFill>
              <a:srgbClr val="FF6B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572000" y="4709160"/>
            <a:ext cx="2286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FFFFFF"/>
                </a:solidFill>
                <a:latin typeface="Noto Sans JP"/>
              </a:rPr>
              <a:t>①  ユーザーがボタンを押す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7040880" y="4709160"/>
            <a:ext cx="2286000" cy="502920"/>
          </a:xfrm>
          <a:prstGeom prst="roundRect">
            <a:avLst>
              <a:gd name="adj" fmla="val 5000"/>
            </a:avLst>
          </a:prstGeom>
          <a:solidFill>
            <a:srgbClr val="1A2D45"/>
          </a:solidFill>
          <a:ln w="19050">
            <a:solidFill>
              <a:srgbClr val="1ABC9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040880" y="4709160"/>
            <a:ext cx="2286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FFFFFF"/>
                </a:solidFill>
                <a:latin typeface="Noto Sans JP"/>
              </a:rPr>
              <a:t>②  Gradioがコールバック関数を呼ぶ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9509760" y="4709160"/>
            <a:ext cx="2286000" cy="502920"/>
          </a:xfrm>
          <a:prstGeom prst="roundRect">
            <a:avLst>
              <a:gd name="adj" fmla="val 5000"/>
            </a:avLst>
          </a:prstGeom>
          <a:solidFill>
            <a:srgbClr val="1A2D45"/>
          </a:solidFill>
          <a:ln w="19050">
            <a:solidFill>
              <a:srgbClr val="2E5E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9509760" y="4709160"/>
            <a:ext cx="2286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FFFFFF"/>
                </a:solidFill>
                <a:latin typeface="Noto Sans JP"/>
              </a:rPr>
              <a:t>③  関数の戻り値でUIが更新される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2D4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Noto Sans JP"/>
              </a:rPr>
              <a:t>gr.State — ゲーム状態を保持する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777240"/>
            <a:ext cx="10515600" cy="36576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91440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99AABB"/>
                </a:solidFill>
                <a:latin typeface="Noto Sans JP"/>
              </a:rPr>
              <a:t>ボタンクリックをまたいで「盤面」や「手番」を覚えておく必要がある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74320" y="1508760"/>
            <a:ext cx="3657600" cy="1828800"/>
          </a:xfrm>
          <a:prstGeom prst="roundRect">
            <a:avLst>
              <a:gd name="adj" fmla="val 5000"/>
            </a:avLst>
          </a:prstGeom>
          <a:solidFill>
            <a:srgbClr val="3A1515"/>
          </a:solidFill>
          <a:ln w="19050">
            <a:solidFill>
              <a:srgbClr val="E74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1508760"/>
            <a:ext cx="3657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E74C3C"/>
                </a:solidFill>
                <a:latin typeface="Noto Sans JP"/>
              </a:rPr>
              <a:t>❌  普通の変数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965960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99AABB"/>
                </a:solidFill>
                <a:latin typeface="Courier New"/>
              </a:rPr>
              <a:t>board = [" "] * 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2331720"/>
            <a:ext cx="3474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E74C3C"/>
                </a:solidFill>
                <a:latin typeface="Noto Sans JP"/>
              </a:rPr>
              <a:t>コールバックが呼ばれるたびに
リセットされてしまう！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06240" y="1508760"/>
            <a:ext cx="3840480" cy="1828800"/>
          </a:xfrm>
          <a:prstGeom prst="roundRect">
            <a:avLst>
              <a:gd name="adj" fmla="val 5000"/>
            </a:avLst>
          </a:prstGeom>
          <a:solidFill>
            <a:srgbClr val="103A3A"/>
          </a:solidFill>
          <a:ln w="19050">
            <a:solidFill>
              <a:srgbClr val="1ABC9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206240" y="1508760"/>
            <a:ext cx="3840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1ABC9C"/>
                </a:solidFill>
                <a:latin typeface="Noto Sans JP"/>
              </a:rPr>
              <a:t>✅  gr.State()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43400" y="196596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A6E3A1"/>
                </a:solidFill>
                <a:latin typeface="Courier New"/>
              </a:rPr>
              <a:t>board_state = gr.State([" "]*9)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43400" y="233172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A6E3A1"/>
                </a:solidFill>
                <a:latin typeface="Courier New"/>
              </a:rPr>
              <a:t>player_state = gr.State("X")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297680" y="2743200"/>
            <a:ext cx="3657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BC9C"/>
                </a:solidFill>
                <a:latin typeface="Noto Sans JP"/>
              </a:rPr>
              <a:t>セッションをまたいで値を保持！
ユーザーごとに独立して管理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21040" y="1508760"/>
            <a:ext cx="3566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Noto Sans JP"/>
              </a:rPr>
              <a:t>動作イメージ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321040" y="1965960"/>
            <a:ext cx="3566160" cy="384048"/>
          </a:xfrm>
          <a:prstGeom prst="roundRect">
            <a:avLst>
              <a:gd name="adj" fmla="val 5000"/>
            </a:avLst>
          </a:prstGeom>
          <a:solidFill>
            <a:srgbClr val="1A3A5A"/>
          </a:solidFill>
          <a:ln w="12700">
            <a:solidFill>
              <a:srgbClr val="2E5E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21040" y="1965960"/>
            <a:ext cx="35661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Courier New"/>
              </a:rPr>
              <a:t>クリック 1回目  →  board=["X"," "," "...]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10104120" y="2350008"/>
            <a:ext cx="0" cy="73152"/>
          </a:xfrm>
          <a:prstGeom prst="bentConnector3">
            <a:avLst/>
          </a:prstGeom>
          <a:ln w="19050">
            <a:solidFill>
              <a:srgbClr val="1ABC9C"/>
            </a:solidFill>
            <a:tailEnd type="none"/>
            <a:head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8321040" y="2423160"/>
            <a:ext cx="3566160" cy="384048"/>
          </a:xfrm>
          <a:prstGeom prst="roundRect">
            <a:avLst>
              <a:gd name="adj" fmla="val 5000"/>
            </a:avLst>
          </a:prstGeom>
          <a:solidFill>
            <a:srgbClr val="1A3A5A"/>
          </a:solidFill>
          <a:ln w="12700">
            <a:solidFill>
              <a:srgbClr val="2E5E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321040" y="2423160"/>
            <a:ext cx="35661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Courier New"/>
              </a:rPr>
              <a:t>クリック 2回目  →  board=["X","O"," "...]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10104120" y="2807208"/>
            <a:ext cx="0" cy="73152"/>
          </a:xfrm>
          <a:prstGeom prst="bentConnector3">
            <a:avLst/>
          </a:prstGeom>
          <a:ln w="19050">
            <a:solidFill>
              <a:srgbClr val="1ABC9C"/>
            </a:solidFill>
            <a:tailEnd type="none"/>
            <a:head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8321040" y="2880360"/>
            <a:ext cx="3566160" cy="384048"/>
          </a:xfrm>
          <a:prstGeom prst="roundRect">
            <a:avLst>
              <a:gd name="adj" fmla="val 5000"/>
            </a:avLst>
          </a:prstGeom>
          <a:solidFill>
            <a:srgbClr val="1A3A5A"/>
          </a:solidFill>
          <a:ln w="12700">
            <a:solidFill>
              <a:srgbClr val="2E5E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321040" y="2880360"/>
            <a:ext cx="35661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Courier New"/>
              </a:rPr>
              <a:t>クリック 3回目  →  board=["X","O","X"...]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74320" y="35661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Noto Sans JP"/>
              </a:rPr>
              <a:t>今回使う 3 つの State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274320" y="4114800"/>
            <a:ext cx="3657600" cy="1371600"/>
          </a:xfrm>
          <a:prstGeom prst="roundRect">
            <a:avLst>
              <a:gd name="adj" fmla="val 5000"/>
            </a:avLst>
          </a:prstGeom>
          <a:solidFill>
            <a:srgbClr val="1A2D4E"/>
          </a:solidFill>
          <a:ln w="25400">
            <a:solidFill>
              <a:srgbClr val="FF6B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74320" y="411480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6B35"/>
                </a:solidFill>
                <a:latin typeface="Noto Sans JP"/>
              </a:rPr>
              <a:t>board_state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" y="452628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A6E3A1"/>
                </a:solidFill>
                <a:latin typeface="Courier New"/>
              </a:rPr>
              <a:t>gr.State([" "] * 9)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65760" y="493776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99AABB"/>
                </a:solidFill>
                <a:latin typeface="Noto Sans JP"/>
              </a:rPr>
              <a:t>盤面（9マス）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114800" y="4114800"/>
            <a:ext cx="3657600" cy="1371600"/>
          </a:xfrm>
          <a:prstGeom prst="roundRect">
            <a:avLst>
              <a:gd name="adj" fmla="val 5000"/>
            </a:avLst>
          </a:prstGeom>
          <a:solidFill>
            <a:srgbClr val="1A2D4E"/>
          </a:solidFill>
          <a:ln w="25400">
            <a:solidFill>
              <a:srgbClr val="1ABC9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114800" y="411480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1ABC9C"/>
                </a:solidFill>
                <a:latin typeface="Noto Sans JP"/>
              </a:rPr>
              <a:t>player_state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206240" y="452628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A6E3A1"/>
                </a:solidFill>
                <a:latin typeface="Courier New"/>
              </a:rPr>
              <a:t>gr.State("X")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206240" y="493776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99AABB"/>
                </a:solidFill>
                <a:latin typeface="Noto Sans JP"/>
              </a:rPr>
              <a:t>現在の手番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7955280" y="4114800"/>
            <a:ext cx="3657600" cy="1371600"/>
          </a:xfrm>
          <a:prstGeom prst="roundRect">
            <a:avLst>
              <a:gd name="adj" fmla="val 5000"/>
            </a:avLst>
          </a:prstGeom>
          <a:solidFill>
            <a:srgbClr val="1A2D4E"/>
          </a:solidFill>
          <a:ln w="25400">
            <a:solidFill>
              <a:srgbClr val="8E44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955280" y="411480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8E44AD"/>
                </a:solidFill>
                <a:latin typeface="Noto Sans JP"/>
              </a:rPr>
              <a:t>gameover_state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046720" y="452628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A6E3A1"/>
                </a:solidFill>
                <a:latin typeface="Courier New"/>
              </a:rPr>
              <a:t>gr.State(False)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046720" y="493776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99AABB"/>
                </a:solidFill>
                <a:latin typeface="Noto Sans JP"/>
              </a:rPr>
              <a:t>ゲーム終了フラグ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2D4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Noto Sans JP"/>
              </a:rPr>
              <a:t>.click() でコールバックを登録する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777240"/>
            <a:ext cx="10515600" cy="36576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9601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F6B35"/>
                </a:solidFill>
                <a:latin typeface="Noto Sans JP"/>
              </a:rPr>
              <a:t>書き方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5760" y="1371600"/>
            <a:ext cx="5029200" cy="2011680"/>
          </a:xfrm>
          <a:prstGeom prst="roundRect">
            <a:avLst>
              <a:gd name="adj" fmla="val 5000"/>
            </a:avLst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5760" y="1371600"/>
            <a:ext cx="45720" cy="2011680"/>
          </a:xfrm>
          <a:prstGeom prst="rect">
            <a:avLst/>
          </a:prstGeom>
          <a:solidFill>
            <a:srgbClr val="2E5E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508760"/>
            <a:ext cx="4663440" cy="1737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A6E3A1"/>
                </a:solidFill>
                <a:latin typeface="Courier New"/>
              </a:rPr>
              <a:t>btn.click(</a:t>
            </a:r>
          </a:p>
          <a:p>
            <a:r>
              <a:rPr sz="1400" b="1">
                <a:solidFill>
                  <a:srgbClr val="FAB387"/>
                </a:solidFill>
                <a:latin typeface="Courier New"/>
              </a:rPr>
              <a:t>    fn     = コールバック関数,</a:t>
            </a:r>
          </a:p>
          <a:p>
            <a:r>
              <a:rPr sz="1400" b="1">
                <a:solidFill>
                  <a:srgbClr val="FAB387"/>
                </a:solidFill>
                <a:latin typeface="Courier New"/>
              </a:rPr>
              <a:t>    inputs = [入力コンポーネント, ...],</a:t>
            </a:r>
          </a:p>
          <a:p>
            <a:r>
              <a:rPr sz="1400" b="1">
                <a:solidFill>
                  <a:srgbClr val="FAB387"/>
                </a:solidFill>
                <a:latin typeface="Courier New"/>
              </a:rPr>
              <a:t>    outputs= [出力コンポーネント, ...]</a:t>
            </a:r>
          </a:p>
          <a:p>
            <a:r>
              <a:rPr sz="1400">
                <a:solidFill>
                  <a:srgbClr val="A6E3A1"/>
                </a:solidFill>
                <a:latin typeface="Courier New"/>
              </a:rPr>
              <a:t>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65760" y="3566160"/>
            <a:ext cx="5029200" cy="566928"/>
          </a:xfrm>
          <a:prstGeom prst="roundRect">
            <a:avLst>
              <a:gd name="adj" fmla="val 5000"/>
            </a:avLst>
          </a:prstGeom>
          <a:solidFill>
            <a:srgbClr val="1A2D4E"/>
          </a:solidFill>
          <a:ln w="19050">
            <a:solidFill>
              <a:srgbClr val="FF6B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760" y="3566160"/>
            <a:ext cx="50292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6B35"/>
                </a:solidFill>
                <a:latin typeface="Noto Sans JP"/>
              </a:rPr>
              <a:t>  fn  ——  呼び出す関数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65760" y="4224528"/>
            <a:ext cx="5029200" cy="566928"/>
          </a:xfrm>
          <a:prstGeom prst="roundRect">
            <a:avLst>
              <a:gd name="adj" fmla="val 5000"/>
            </a:avLst>
          </a:prstGeom>
          <a:solidFill>
            <a:srgbClr val="1A2D4E"/>
          </a:solidFill>
          <a:ln w="19050">
            <a:solidFill>
              <a:srgbClr val="1ABC9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5760" y="4224528"/>
            <a:ext cx="50292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BC9C"/>
                </a:solidFill>
                <a:latin typeface="Noto Sans JP"/>
              </a:rPr>
              <a:t>  inputs  ——  関数に渡す値（StateやTextboxなど）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65760" y="4882896"/>
            <a:ext cx="5029200" cy="566928"/>
          </a:xfrm>
          <a:prstGeom prst="roundRect">
            <a:avLst>
              <a:gd name="adj" fmla="val 5000"/>
            </a:avLst>
          </a:prstGeom>
          <a:solidFill>
            <a:srgbClr val="1A2D4E"/>
          </a:solidFill>
          <a:ln w="19050">
            <a:solidFill>
              <a:srgbClr val="2E5E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65760" y="4882896"/>
            <a:ext cx="50292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2E5EA0"/>
                </a:solidFill>
                <a:latin typeface="Noto Sans JP"/>
              </a:rPr>
              <a:t>  outputs  ——  戻り値で更新するコンポーネント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0" y="960120"/>
            <a:ext cx="5943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Noto Sans JP"/>
              </a:rPr>
              <a:t>動作フロー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943600" y="1417320"/>
            <a:ext cx="5486400" cy="777240"/>
          </a:xfrm>
          <a:prstGeom prst="roundRect">
            <a:avLst>
              <a:gd name="adj" fmla="val 5000"/>
            </a:avLst>
          </a:prstGeom>
          <a:solidFill>
            <a:srgbClr val="1A2D4E"/>
          </a:solidFill>
          <a:ln w="25400">
            <a:solidFill>
              <a:srgbClr val="FF6B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035040" y="1444752"/>
            <a:ext cx="5303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6B35"/>
                </a:solidFill>
                <a:latin typeface="Noto Sans JP"/>
              </a:rPr>
              <a:t>👆  btn（ボタン）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035040" y="1828800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99AABB"/>
                </a:solidFill>
                <a:latin typeface="Noto Sans JP"/>
              </a:rPr>
              <a:t>ユーザーがクリック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8686800" y="2194560"/>
            <a:ext cx="0" cy="137160"/>
          </a:xfrm>
          <a:prstGeom prst="bentConnector3">
            <a:avLst/>
          </a:prstGeom>
          <a:ln w="25400">
            <a:solidFill>
              <a:srgbClr val="FF6B35"/>
            </a:solidFill>
            <a:tailEnd type="none"/>
            <a:head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5943600" y="2496312"/>
            <a:ext cx="5486400" cy="777240"/>
          </a:xfrm>
          <a:prstGeom prst="roundRect">
            <a:avLst>
              <a:gd name="adj" fmla="val 5000"/>
            </a:avLst>
          </a:prstGeom>
          <a:solidFill>
            <a:srgbClr val="1A2D4E"/>
          </a:solidFill>
          <a:ln w="25400">
            <a:solidFill>
              <a:srgbClr val="1ABC9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035040" y="2523744"/>
            <a:ext cx="5303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ABC9C"/>
                </a:solidFill>
                <a:latin typeface="Noto Sans JP"/>
              </a:rPr>
              <a:t>📥  inputs に指定したState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035040" y="2907791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99AABB"/>
                </a:solidFill>
                <a:latin typeface="Noto Sans JP"/>
              </a:rPr>
              <a:t>関数の引数として渡る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8686800" y="3273552"/>
            <a:ext cx="0" cy="137159"/>
          </a:xfrm>
          <a:prstGeom prst="bentConnector3">
            <a:avLst/>
          </a:prstGeom>
          <a:ln w="25400">
            <a:solidFill>
              <a:srgbClr val="1ABC9C"/>
            </a:solidFill>
            <a:tailEnd type="none"/>
            <a:head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5943600" y="3575304"/>
            <a:ext cx="5486400" cy="777240"/>
          </a:xfrm>
          <a:prstGeom prst="roundRect">
            <a:avLst>
              <a:gd name="adj" fmla="val 5000"/>
            </a:avLst>
          </a:prstGeom>
          <a:solidFill>
            <a:srgbClr val="1A2D4E"/>
          </a:solidFill>
          <a:ln w="25400">
            <a:solidFill>
              <a:srgbClr val="2E5E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035040" y="3602736"/>
            <a:ext cx="5303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2E5EA0"/>
                </a:solidFill>
                <a:latin typeface="Noto Sans JP"/>
              </a:rPr>
              <a:t>⚙️  fn に指定した関数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035040" y="3986783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99AABB"/>
                </a:solidFill>
                <a:latin typeface="Noto Sans JP"/>
              </a:rPr>
              <a:t>ロジック実行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8686800" y="4352544"/>
            <a:ext cx="0" cy="137160"/>
          </a:xfrm>
          <a:prstGeom prst="bentConnector3">
            <a:avLst/>
          </a:prstGeom>
          <a:ln w="25400">
            <a:solidFill>
              <a:srgbClr val="2E5EA0"/>
            </a:solidFill>
            <a:tailEnd type="none"/>
            <a:head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ounded Rectangle 27"/>
          <p:cNvSpPr/>
          <p:nvPr/>
        </p:nvSpPr>
        <p:spPr>
          <a:xfrm>
            <a:off x="5943600" y="4654296"/>
            <a:ext cx="5486400" cy="777240"/>
          </a:xfrm>
          <a:prstGeom prst="roundRect">
            <a:avLst>
              <a:gd name="adj" fmla="val 5000"/>
            </a:avLst>
          </a:prstGeom>
          <a:solidFill>
            <a:srgbClr val="1A2D4E"/>
          </a:solidFill>
          <a:ln w="25400">
            <a:solidFill>
              <a:srgbClr val="27A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035040" y="4681728"/>
            <a:ext cx="5303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27AE60"/>
                </a:solidFill>
                <a:latin typeface="Noto Sans JP"/>
              </a:rPr>
              <a:t>📤  outputs に指定した先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035040" y="5065776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99AABB"/>
                </a:solidFill>
                <a:latin typeface="Noto Sans JP"/>
              </a:rPr>
              <a:t>戻り値で自動更新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65760" y="557784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6B35"/>
                </a:solidFill>
                <a:latin typeface="Noto Sans JP"/>
              </a:rPr>
              <a:t>具体例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365760" y="5669280"/>
            <a:ext cx="11430000" cy="914400"/>
          </a:xfrm>
          <a:prstGeom prst="roundRect">
            <a:avLst>
              <a:gd name="adj" fmla="val 5000"/>
            </a:avLst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365760" y="5669280"/>
            <a:ext cx="45720" cy="914400"/>
          </a:xfrm>
          <a:prstGeom prst="rect">
            <a:avLst/>
          </a:prstGeom>
          <a:solidFill>
            <a:srgbClr val="2E5E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48640" y="580644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A6E3A1"/>
                </a:solidFill>
                <a:latin typeface="Courier New"/>
              </a:rPr>
              <a:t>btn0.click(fn=handler, inputs=[board_state, player_state],</a:t>
            </a:r>
          </a:p>
          <a:p>
            <a:r>
              <a:rPr sz="1400">
                <a:solidFill>
                  <a:srgbClr val="A6E3A1"/>
                </a:solidFill>
                <a:latin typeface="Courier New"/>
              </a:rPr>
              <a:t>           outputs=buttons + [board_state, player_state, status])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2D4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Noto Sans JP"/>
              </a:rPr>
              <a:t>コールバック関数の設計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777240"/>
            <a:ext cx="10515600" cy="36576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82880" y="100584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1ABC9C"/>
                </a:solidFill>
                <a:latin typeface="Noto Sans JP"/>
              </a:rPr>
              <a:t>inputs（引数）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82880" y="1463040"/>
            <a:ext cx="2926080" cy="658368"/>
          </a:xfrm>
          <a:prstGeom prst="roundRect">
            <a:avLst>
              <a:gd name="adj" fmla="val 5000"/>
            </a:avLst>
          </a:prstGeom>
          <a:solidFill>
            <a:srgbClr val="1A2D4E"/>
          </a:solidFill>
          <a:ln w="19050">
            <a:solidFill>
              <a:srgbClr val="FF6B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1490472"/>
            <a:ext cx="2560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6B35"/>
                </a:solidFill>
                <a:latin typeface="Courier New"/>
              </a:rPr>
              <a:t>position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" y="178308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99AABB"/>
                </a:solidFill>
                <a:latin typeface="Noto Sans JP"/>
              </a:rPr>
              <a:t>クリックされたマス番号 (0〜8)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82880" y="2240280"/>
            <a:ext cx="2926080" cy="658368"/>
          </a:xfrm>
          <a:prstGeom prst="roundRect">
            <a:avLst>
              <a:gd name="adj" fmla="val 5000"/>
            </a:avLst>
          </a:prstGeom>
          <a:solidFill>
            <a:srgbClr val="1A2D4E"/>
          </a:solidFill>
          <a:ln w="19050">
            <a:solidFill>
              <a:srgbClr val="1ABC9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74320" y="2267712"/>
            <a:ext cx="2560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ABC9C"/>
                </a:solidFill>
                <a:latin typeface="Courier New"/>
              </a:rPr>
              <a:t>board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256032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99AABB"/>
                </a:solidFill>
                <a:latin typeface="Noto Sans JP"/>
              </a:rPr>
              <a:t>現在の盤面リスト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82880" y="3017520"/>
            <a:ext cx="2926080" cy="658368"/>
          </a:xfrm>
          <a:prstGeom prst="roundRect">
            <a:avLst>
              <a:gd name="adj" fmla="val 5000"/>
            </a:avLst>
          </a:prstGeom>
          <a:solidFill>
            <a:srgbClr val="1A2D4E"/>
          </a:solidFill>
          <a:ln w="19050">
            <a:solidFill>
              <a:srgbClr val="2E5E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74320" y="3044952"/>
            <a:ext cx="2560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2E5EA0"/>
                </a:solidFill>
                <a:latin typeface="Courier New"/>
              </a:rPr>
              <a:t>current_player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74320" y="333756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99AABB"/>
                </a:solidFill>
                <a:latin typeface="Noto Sans JP"/>
              </a:rPr>
              <a:t>"X" or "O"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3108960" y="2468880"/>
            <a:ext cx="640079" cy="0"/>
          </a:xfrm>
          <a:prstGeom prst="bentConnector3">
            <a:avLst/>
          </a:prstGeom>
          <a:ln w="31750">
            <a:solidFill>
              <a:srgbClr val="1ABC9C"/>
            </a:solidFill>
            <a:tailEnd type="none"/>
            <a:head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3840480" y="1280160"/>
            <a:ext cx="4480560" cy="2926080"/>
          </a:xfrm>
          <a:prstGeom prst="roundRect">
            <a:avLst>
              <a:gd name="adj" fmla="val 5000"/>
            </a:avLst>
          </a:prstGeom>
          <a:solidFill>
            <a:srgbClr val="12223A"/>
          </a:solidFill>
          <a:ln w="31750">
            <a:solidFill>
              <a:srgbClr val="FF6B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931920" y="1371600"/>
            <a:ext cx="4297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6B35"/>
                </a:solidFill>
                <a:latin typeface="Courier New"/>
              </a:rPr>
              <a:t>def on_click(
  position, board, player
):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023360" y="2286000"/>
            <a:ext cx="4114800" cy="384048"/>
          </a:xfrm>
          <a:prstGeom prst="roundRect">
            <a:avLst>
              <a:gd name="adj" fmla="val 5000"/>
            </a:avLst>
          </a:prstGeom>
          <a:solidFill>
            <a:srgbClr val="1A2D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023360" y="2286000"/>
            <a:ext cx="4114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E74C3C"/>
                </a:solidFill>
                <a:latin typeface="Noto Sans JP"/>
              </a:rPr>
              <a:t>① 有効手チェック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023360" y="2743200"/>
            <a:ext cx="4114800" cy="384048"/>
          </a:xfrm>
          <a:prstGeom prst="roundRect">
            <a:avLst>
              <a:gd name="adj" fmla="val 5000"/>
            </a:avLst>
          </a:prstGeom>
          <a:solidFill>
            <a:srgbClr val="1A2D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023360" y="2743200"/>
            <a:ext cx="4114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BC9C"/>
                </a:solidFill>
                <a:latin typeface="Noto Sans JP"/>
              </a:rPr>
              <a:t>② 盤面に印を置く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023360" y="3200400"/>
            <a:ext cx="4114800" cy="384048"/>
          </a:xfrm>
          <a:prstGeom prst="roundRect">
            <a:avLst>
              <a:gd name="adj" fmla="val 5000"/>
            </a:avLst>
          </a:prstGeom>
          <a:solidFill>
            <a:srgbClr val="1A2D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023360" y="3200400"/>
            <a:ext cx="4114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D700"/>
                </a:solidFill>
                <a:latin typeface="Noto Sans JP"/>
              </a:rPr>
              <a:t>③ 勝敗・引き分け判定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023360" y="3657600"/>
            <a:ext cx="4114800" cy="384048"/>
          </a:xfrm>
          <a:prstGeom prst="roundRect">
            <a:avLst>
              <a:gd name="adj" fmla="val 5000"/>
            </a:avLst>
          </a:prstGeom>
          <a:solidFill>
            <a:srgbClr val="1A2D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023360" y="3657600"/>
            <a:ext cx="4114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E5EA0"/>
                </a:solidFill>
                <a:latin typeface="Noto Sans JP"/>
              </a:rPr>
              <a:t>④ 次の手番を返す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8321040" y="2468880"/>
            <a:ext cx="640080" cy="0"/>
          </a:xfrm>
          <a:prstGeom prst="bentConnector3">
            <a:avLst/>
          </a:prstGeom>
          <a:ln w="31750">
            <a:solidFill>
              <a:srgbClr val="2E5EA0"/>
            </a:solidFill>
            <a:tailEnd type="none"/>
            <a:head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9052560" y="100584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2E5EA0"/>
                </a:solidFill>
                <a:latin typeface="Noto Sans JP"/>
              </a:rPr>
              <a:t>outputs（戻り値）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9052560" y="1463040"/>
            <a:ext cx="2926080" cy="621792"/>
          </a:xfrm>
          <a:prstGeom prst="roundRect">
            <a:avLst>
              <a:gd name="adj" fmla="val 5000"/>
            </a:avLst>
          </a:prstGeom>
          <a:solidFill>
            <a:srgbClr val="1A2D4E"/>
          </a:solidFill>
          <a:ln w="19050">
            <a:solidFill>
              <a:srgbClr val="2E5E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144000" y="1490472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2E5EA0"/>
                </a:solidFill>
                <a:latin typeface="Courier New"/>
              </a:rPr>
              <a:t>buttons[0〜8]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44000" y="1764792"/>
            <a:ext cx="2743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99AABB"/>
                </a:solidFill>
                <a:latin typeface="Noto Sans JP"/>
              </a:rPr>
              <a:t>各ボタンのラベル更新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9052560" y="2212848"/>
            <a:ext cx="2926080" cy="621792"/>
          </a:xfrm>
          <a:prstGeom prst="roundRect">
            <a:avLst>
              <a:gd name="adj" fmla="val 5000"/>
            </a:avLst>
          </a:prstGeom>
          <a:solidFill>
            <a:srgbClr val="1A2D4E"/>
          </a:solidFill>
          <a:ln w="19050">
            <a:solidFill>
              <a:srgbClr val="1ABC9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144000" y="2240279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ABC9C"/>
                </a:solidFill>
                <a:latin typeface="Courier New"/>
              </a:rPr>
              <a:t>board_state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144000" y="2514600"/>
            <a:ext cx="2743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99AABB"/>
                </a:solidFill>
                <a:latin typeface="Noto Sans JP"/>
              </a:rPr>
              <a:t>新しい盤面リスト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9052560" y="2962656"/>
            <a:ext cx="2926080" cy="621792"/>
          </a:xfrm>
          <a:prstGeom prst="roundRect">
            <a:avLst>
              <a:gd name="adj" fmla="val 5000"/>
            </a:avLst>
          </a:prstGeom>
          <a:solidFill>
            <a:srgbClr val="1A2D4E"/>
          </a:solidFill>
          <a:ln w="19050">
            <a:solidFill>
              <a:srgbClr val="FF6B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144000" y="2990087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6B35"/>
                </a:solidFill>
                <a:latin typeface="Courier New"/>
              </a:rPr>
              <a:t>player_state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144000" y="3264408"/>
            <a:ext cx="2743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99AABB"/>
                </a:solidFill>
                <a:latin typeface="Noto Sans JP"/>
              </a:rPr>
              <a:t>次の手番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9052560" y="3712464"/>
            <a:ext cx="2926080" cy="621792"/>
          </a:xfrm>
          <a:prstGeom prst="roundRect">
            <a:avLst>
              <a:gd name="adj" fmla="val 5000"/>
            </a:avLst>
          </a:prstGeom>
          <a:solidFill>
            <a:srgbClr val="1A2D4E"/>
          </a:solidFill>
          <a:ln w="19050">
            <a:solidFill>
              <a:srgbClr val="27A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144000" y="3739896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27AE60"/>
                </a:solidFill>
                <a:latin typeface="Courier New"/>
              </a:rPr>
              <a:t>status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144000" y="4014215"/>
            <a:ext cx="2743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99AABB"/>
                </a:solidFill>
                <a:latin typeface="Noto Sans JP"/>
              </a:rPr>
              <a:t>ゲーム状態テキスト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274320" y="4572000"/>
            <a:ext cx="11521440" cy="594360"/>
          </a:xfrm>
          <a:prstGeom prst="roundRect">
            <a:avLst>
              <a:gd name="adj" fmla="val 5000"/>
            </a:avLst>
          </a:prstGeom>
          <a:solidFill>
            <a:srgbClr val="2A1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274320" y="4572000"/>
            <a:ext cx="115214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FF6B35"/>
                </a:solidFill>
                <a:latin typeface="Noto Sans JP"/>
              </a:rPr>
              <a:t>⭐  戻り値の順番が outputs の順番と一致している必要がある！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274320" y="5303520"/>
            <a:ext cx="11521440" cy="1417320"/>
          </a:xfrm>
          <a:prstGeom prst="roundRect">
            <a:avLst>
              <a:gd name="adj" fmla="val 5000"/>
            </a:avLst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274320" y="5303520"/>
            <a:ext cx="45720" cy="1417320"/>
          </a:xfrm>
          <a:prstGeom prst="rect">
            <a:avLst/>
          </a:prstGeom>
          <a:solidFill>
            <a:srgbClr val="2E5E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457200" y="5440680"/>
            <a:ext cx="11155680" cy="1143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CBA6F7"/>
                </a:solidFill>
                <a:latin typeface="Courier New"/>
              </a:rPr>
              <a:t>def on_click(position, board, current_player):</a:t>
            </a:r>
          </a:p>
          <a:p>
            <a:r>
              <a:rPr sz="1400">
                <a:solidFill>
                  <a:srgbClr val="89DCEB"/>
                </a:solidFill>
                <a:latin typeface="Courier New"/>
              </a:rPr>
              <a:t>    if not is_valid_move(board, position):   # 有効手チェック</a:t>
            </a:r>
          </a:p>
          <a:p>
            <a:r>
              <a:rPr sz="1400" b="1">
                <a:solidFill>
                  <a:srgbClr val="FAB387"/>
                </a:solidFill>
                <a:latin typeface="Courier New"/>
              </a:rPr>
              <a:t>        return board[0],...,board[8], board, current_player, '置けません'</a:t>
            </a:r>
          </a:p>
          <a:p>
            <a:r>
              <a:rPr sz="1400">
                <a:solidFill>
                  <a:srgbClr val="A6E3A1"/>
                </a:solidFill>
                <a:latin typeface="Courier New"/>
              </a:rPr>
              <a:t>    place_mark(board, position, current_player)</a:t>
            </a:r>
          </a:p>
          <a:p>
            <a:r>
              <a:rPr sz="1400">
                <a:solidFill>
                  <a:srgbClr val="A6E3A1"/>
                </a:solidFill>
                <a:latin typeface="Courier New"/>
              </a:rPr>
              <a:t>    winner = check_winner(board)</a:t>
            </a:r>
          </a:p>
          <a:p>
            <a:r>
              <a:rPr sz="1400" b="1">
                <a:solidFill>
                  <a:srgbClr val="FAB387"/>
                </a:solidFill>
                <a:latin typeface="Courier New"/>
              </a:rPr>
              <a:t>    if winner:  return *board, board, current_player, f'{winner}の勝ち！'</a:t>
            </a:r>
          </a:p>
          <a:p>
            <a:r>
              <a:rPr sz="1400">
                <a:solidFill>
                  <a:srgbClr val="A6E3A1"/>
                </a:solidFill>
                <a:latin typeface="Courier New"/>
              </a:rPr>
              <a:t>    next_player = switch_player(current_player)</a:t>
            </a:r>
          </a:p>
          <a:p>
            <a:r>
              <a:rPr sz="1400">
                <a:solidFill>
                  <a:srgbClr val="89DCEB"/>
                </a:solidFill>
                <a:latin typeface="Courier New"/>
              </a:rPr>
              <a:t>    return *board, board, next_player, f'{next_player}の番です'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2D4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Noto Sans JP"/>
              </a:rPr>
              <a:t>9つのボタンを効率よく接続する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777240"/>
            <a:ext cx="10515600" cy="36576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100584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E74C3C"/>
                </a:solidFill>
                <a:latin typeface="Noto Sans JP"/>
              </a:rPr>
              <a:t>素朴な方法（9回書く）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74320" y="1417320"/>
            <a:ext cx="4572000" cy="2011680"/>
          </a:xfrm>
          <a:prstGeom prst="roundRect">
            <a:avLst>
              <a:gd name="adj" fmla="val 5000"/>
            </a:avLst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74320" y="1417320"/>
            <a:ext cx="45720" cy="2011680"/>
          </a:xfrm>
          <a:prstGeom prst="rect">
            <a:avLst/>
          </a:prstGeom>
          <a:solidFill>
            <a:srgbClr val="2E5E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554480"/>
            <a:ext cx="4206240" cy="1737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A6E3A1"/>
                </a:solidFill>
                <a:latin typeface="Courier New"/>
              </a:rPr>
              <a:t>btn0.click(fn=make_handler(0), ...)</a:t>
            </a:r>
          </a:p>
          <a:p>
            <a:r>
              <a:rPr sz="1400">
                <a:solidFill>
                  <a:srgbClr val="A6E3A1"/>
                </a:solidFill>
                <a:latin typeface="Courier New"/>
              </a:rPr>
              <a:t>btn1.click(fn=make_handler(1), ...)</a:t>
            </a:r>
          </a:p>
          <a:p>
            <a:r>
              <a:rPr sz="1400">
                <a:solidFill>
                  <a:srgbClr val="A6E3A1"/>
                </a:solidFill>
                <a:latin typeface="Courier New"/>
              </a:rPr>
              <a:t>btn2.click(fn=make_handler(2), ...)</a:t>
            </a:r>
          </a:p>
          <a:p>
            <a:r>
              <a:rPr sz="1400">
                <a:solidFill>
                  <a:srgbClr val="A6E3A1"/>
                </a:solidFill>
                <a:latin typeface="Courier New"/>
              </a:rPr>
              <a:t>  ⋮</a:t>
            </a:r>
          </a:p>
          <a:p>
            <a:r>
              <a:rPr sz="1400">
                <a:solidFill>
                  <a:srgbClr val="A6E3A1"/>
                </a:solidFill>
                <a:latin typeface="Courier New"/>
              </a:rPr>
              <a:t>btn8.click(fn=make_handler(8), ...)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" y="352044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E74C3C"/>
                </a:solidFill>
                <a:latin typeface="Noto Sans JP"/>
              </a:rPr>
              <a:t>❌ 繰り返しが多くて大変！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4937760" y="2651760"/>
            <a:ext cx="548640" cy="0"/>
          </a:xfrm>
          <a:prstGeom prst="bentConnector3">
            <a:avLst/>
          </a:prstGeom>
          <a:ln w="38100">
            <a:solidFill>
              <a:srgbClr val="FF6B35"/>
            </a:solidFill>
            <a:tailEnd type="none"/>
            <a:head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4709160" y="233172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6B35"/>
                </a:solidFill>
                <a:latin typeface="Noto Sans JP"/>
              </a:rPr>
              <a:t>改善！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577840" y="100584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ABC9C"/>
                </a:solidFill>
                <a:latin typeface="Noto Sans JP"/>
              </a:rPr>
              <a:t>ループで接続（スマート）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577840" y="1417320"/>
            <a:ext cx="5486400" cy="3840480"/>
          </a:xfrm>
          <a:prstGeom prst="roundRect">
            <a:avLst>
              <a:gd name="adj" fmla="val 5000"/>
            </a:avLst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577840" y="1417320"/>
            <a:ext cx="45720" cy="3840480"/>
          </a:xfrm>
          <a:prstGeom prst="rect">
            <a:avLst/>
          </a:prstGeom>
          <a:solidFill>
            <a:srgbClr val="2E5E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760720" y="1554480"/>
            <a:ext cx="5120640" cy="3566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A6E3A1"/>
                </a:solidFill>
                <a:latin typeface="Courier New"/>
              </a:rPr>
              <a:t>buttons = [btn0, btn1, ..., btn8]</a:t>
            </a:r>
          </a:p>
          <a:p>
            <a:r>
              <a:rPr sz="1400">
                <a:solidFill>
                  <a:srgbClr val="A6E3A1"/>
                </a:solidFill>
                <a:latin typeface="Courier New"/>
              </a:rPr>
              <a:t/>
            </a:r>
          </a:p>
          <a:p>
            <a:r>
              <a:rPr sz="1400" b="1">
                <a:solidFill>
                  <a:srgbClr val="FAB387"/>
                </a:solidFill>
                <a:latin typeface="Courier New"/>
              </a:rPr>
              <a:t>def make_handler(pos):</a:t>
            </a:r>
          </a:p>
          <a:p>
            <a:r>
              <a:rPr sz="1400" b="1">
                <a:solidFill>
                  <a:srgbClr val="FAB387"/>
                </a:solidFill>
                <a:latin typeface="Courier New"/>
              </a:rPr>
              <a:t>    def handler(board, player):</a:t>
            </a:r>
          </a:p>
          <a:p>
            <a:r>
              <a:rPr sz="1400" b="1">
                <a:solidFill>
                  <a:srgbClr val="FAB387"/>
                </a:solidFill>
                <a:latin typeface="Courier New"/>
              </a:rPr>
              <a:t>        return on_click(pos, board, player)</a:t>
            </a:r>
          </a:p>
          <a:p>
            <a:r>
              <a:rPr sz="1400" b="1">
                <a:solidFill>
                  <a:srgbClr val="FAB387"/>
                </a:solidFill>
                <a:latin typeface="Courier New"/>
              </a:rPr>
              <a:t>    return handler</a:t>
            </a:r>
          </a:p>
          <a:p>
            <a:r>
              <a:rPr sz="1400">
                <a:solidFill>
                  <a:srgbClr val="A6E3A1"/>
                </a:solidFill>
                <a:latin typeface="Courier New"/>
              </a:rPr>
              <a:t/>
            </a:r>
          </a:p>
          <a:p>
            <a:r>
              <a:rPr sz="1400" b="1">
                <a:solidFill>
                  <a:srgbClr val="FAB387"/>
                </a:solidFill>
                <a:latin typeface="Courier New"/>
              </a:rPr>
              <a:t>for i, btn in enumerate(buttons):</a:t>
            </a:r>
          </a:p>
          <a:p>
            <a:r>
              <a:rPr sz="1400" b="1">
                <a:solidFill>
                  <a:srgbClr val="FAB387"/>
                </a:solidFill>
                <a:latin typeface="Courier New"/>
              </a:rPr>
              <a:t>    btn.click(</a:t>
            </a:r>
          </a:p>
          <a:p>
            <a:r>
              <a:rPr sz="1400">
                <a:solidFill>
                  <a:srgbClr val="A6E3A1"/>
                </a:solidFill>
                <a:latin typeface="Courier New"/>
              </a:rPr>
              <a:t>        fn=make_handler(i),</a:t>
            </a:r>
          </a:p>
          <a:p>
            <a:r>
              <a:rPr sz="1400">
                <a:solidFill>
                  <a:srgbClr val="A6E3A1"/>
                </a:solidFill>
                <a:latin typeface="Courier New"/>
              </a:rPr>
              <a:t>        inputs=[board_state, player_state],</a:t>
            </a:r>
          </a:p>
          <a:p>
            <a:r>
              <a:rPr sz="1400">
                <a:solidFill>
                  <a:srgbClr val="A6E3A1"/>
                </a:solidFill>
                <a:latin typeface="Courier New"/>
              </a:rPr>
              <a:t>        outputs=buttons + [board_state,</a:t>
            </a:r>
          </a:p>
          <a:p>
            <a:r>
              <a:rPr sz="1400">
                <a:solidFill>
                  <a:srgbClr val="A6E3A1"/>
                </a:solidFill>
                <a:latin typeface="Courier New"/>
              </a:rPr>
              <a:t>                player_state, status]</a:t>
            </a:r>
          </a:p>
          <a:p>
            <a:r>
              <a:rPr sz="1400">
                <a:solidFill>
                  <a:srgbClr val="A6E3A1"/>
                </a:solidFill>
                <a:latin typeface="Courier New"/>
              </a:rPr>
              <a:t>    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74320" y="4023360"/>
            <a:ext cx="4389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Noto Sans JP"/>
              </a:rPr>
              <a:t>インデックスの対応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74320" y="4480560"/>
            <a:ext cx="1188720" cy="594360"/>
          </a:xfrm>
          <a:prstGeom prst="roundRect">
            <a:avLst>
              <a:gd name="adj" fmla="val 5000"/>
            </a:avLst>
          </a:prstGeom>
          <a:solidFill>
            <a:srgbClr val="1A2D4E"/>
          </a:solidFill>
          <a:ln w="25400">
            <a:solidFill>
              <a:srgbClr val="FF6B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74320" y="4480560"/>
            <a:ext cx="11887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6B35"/>
                </a:solidFill>
                <a:latin typeface="Noto Sans JP"/>
              </a:rPr>
              <a:t>btn[0]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536192" y="4480560"/>
            <a:ext cx="1188720" cy="594360"/>
          </a:xfrm>
          <a:prstGeom prst="roundRect">
            <a:avLst>
              <a:gd name="adj" fmla="val 5000"/>
            </a:avLst>
          </a:prstGeom>
          <a:solidFill>
            <a:srgbClr val="1A2D4E"/>
          </a:solidFill>
          <a:ln w="25400">
            <a:solidFill>
              <a:srgbClr val="2E5E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536192" y="4480560"/>
            <a:ext cx="11887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2E5EA0"/>
                </a:solidFill>
                <a:latin typeface="Noto Sans JP"/>
              </a:rPr>
              <a:t>btn[1]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2798064" y="4480560"/>
            <a:ext cx="1188720" cy="594360"/>
          </a:xfrm>
          <a:prstGeom prst="roundRect">
            <a:avLst>
              <a:gd name="adj" fmla="val 5000"/>
            </a:avLst>
          </a:prstGeom>
          <a:solidFill>
            <a:srgbClr val="1A2D4E"/>
          </a:solidFill>
          <a:ln w="25400">
            <a:solidFill>
              <a:srgbClr val="1ABC9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798064" y="4480560"/>
            <a:ext cx="11887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1ABC9C"/>
                </a:solidFill>
                <a:latin typeface="Noto Sans JP"/>
              </a:rPr>
              <a:t>btn[2]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274320" y="5148072"/>
            <a:ext cx="1188720" cy="594360"/>
          </a:xfrm>
          <a:prstGeom prst="roundRect">
            <a:avLst>
              <a:gd name="adj" fmla="val 5000"/>
            </a:avLst>
          </a:prstGeom>
          <a:solidFill>
            <a:srgbClr val="1A2D4E"/>
          </a:solidFill>
          <a:ln w="25400">
            <a:solidFill>
              <a:srgbClr val="2E5E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74320" y="5148072"/>
            <a:ext cx="11887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2E5EA0"/>
                </a:solidFill>
                <a:latin typeface="Noto Sans JP"/>
              </a:rPr>
              <a:t>btn[3]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536192" y="5148072"/>
            <a:ext cx="1188720" cy="594360"/>
          </a:xfrm>
          <a:prstGeom prst="roundRect">
            <a:avLst>
              <a:gd name="adj" fmla="val 5000"/>
            </a:avLst>
          </a:prstGeom>
          <a:solidFill>
            <a:srgbClr val="1A2D4E"/>
          </a:solidFill>
          <a:ln w="25400">
            <a:solidFill>
              <a:srgbClr val="1ABC9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536192" y="5148072"/>
            <a:ext cx="11887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1ABC9C"/>
                </a:solidFill>
                <a:latin typeface="Noto Sans JP"/>
              </a:rPr>
              <a:t>btn[4]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2798064" y="5148072"/>
            <a:ext cx="1188720" cy="594360"/>
          </a:xfrm>
          <a:prstGeom prst="roundRect">
            <a:avLst>
              <a:gd name="adj" fmla="val 5000"/>
            </a:avLst>
          </a:prstGeom>
          <a:solidFill>
            <a:srgbClr val="1A2D4E"/>
          </a:solidFill>
          <a:ln w="25400">
            <a:solidFill>
              <a:srgbClr val="FF6B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2798064" y="5148072"/>
            <a:ext cx="11887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6B35"/>
                </a:solidFill>
                <a:latin typeface="Noto Sans JP"/>
              </a:rPr>
              <a:t>btn[5]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274320" y="5815584"/>
            <a:ext cx="1188720" cy="594360"/>
          </a:xfrm>
          <a:prstGeom prst="roundRect">
            <a:avLst>
              <a:gd name="adj" fmla="val 5000"/>
            </a:avLst>
          </a:prstGeom>
          <a:solidFill>
            <a:srgbClr val="1A2D4E"/>
          </a:solidFill>
          <a:ln w="25400">
            <a:solidFill>
              <a:srgbClr val="1ABC9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274320" y="5815584"/>
            <a:ext cx="11887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1ABC9C"/>
                </a:solidFill>
                <a:latin typeface="Noto Sans JP"/>
              </a:rPr>
              <a:t>btn[6]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1536192" y="5815584"/>
            <a:ext cx="1188720" cy="594360"/>
          </a:xfrm>
          <a:prstGeom prst="roundRect">
            <a:avLst>
              <a:gd name="adj" fmla="val 5000"/>
            </a:avLst>
          </a:prstGeom>
          <a:solidFill>
            <a:srgbClr val="1A2D4E"/>
          </a:solidFill>
          <a:ln w="25400">
            <a:solidFill>
              <a:srgbClr val="FF6B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536192" y="5815584"/>
            <a:ext cx="11887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6B35"/>
                </a:solidFill>
                <a:latin typeface="Noto Sans JP"/>
              </a:rPr>
              <a:t>btn[7]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2798064" y="5815584"/>
            <a:ext cx="1188720" cy="594360"/>
          </a:xfrm>
          <a:prstGeom prst="roundRect">
            <a:avLst>
              <a:gd name="adj" fmla="val 5000"/>
            </a:avLst>
          </a:prstGeom>
          <a:solidFill>
            <a:srgbClr val="1A2D4E"/>
          </a:solidFill>
          <a:ln w="25400">
            <a:solidFill>
              <a:srgbClr val="2E5E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2798064" y="5815584"/>
            <a:ext cx="11887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2E5EA0"/>
                </a:solidFill>
                <a:latin typeface="Noto Sans JP"/>
              </a:rPr>
              <a:t>btn[8]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160520" y="4297680"/>
            <a:ext cx="12801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6B35"/>
                </a:solidFill>
                <a:latin typeface="Noto Sans JP"/>
              </a:rPr>
              <a:t>make_handler(i) で
pos を「閉じ込める」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2D4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Noto Sans JP"/>
              </a:rPr>
              <a:t>演習  — ゲームを完成させよう！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777240"/>
            <a:ext cx="11430000" cy="36576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274320" y="960120"/>
            <a:ext cx="11430000" cy="713232"/>
          </a:xfrm>
          <a:prstGeom prst="roundRect">
            <a:avLst>
              <a:gd name="adj" fmla="val 5000"/>
            </a:avLst>
          </a:prstGeom>
          <a:solidFill>
            <a:srgbClr val="1A2D4E"/>
          </a:solidFill>
          <a:ln w="25400">
            <a:solidFill>
              <a:srgbClr val="FF6B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96012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6B35"/>
                </a:solidFill>
                <a:latin typeface="Noto Sans JP"/>
              </a:rPr>
              <a:t>  ① イベント接続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834640" y="1124712"/>
            <a:ext cx="8686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Noto Sans JP"/>
              </a:rPr>
              <a:t>on_click 関数を実装し、ボタンに .click() で接続する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74320" y="1783080"/>
            <a:ext cx="11430000" cy="713232"/>
          </a:xfrm>
          <a:prstGeom prst="roundRect">
            <a:avLst>
              <a:gd name="adj" fmla="val 5000"/>
            </a:avLst>
          </a:prstGeom>
          <a:solidFill>
            <a:srgbClr val="1A2D4E"/>
          </a:solidFill>
          <a:ln w="25400">
            <a:solidFill>
              <a:srgbClr val="1ABC9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74320" y="178308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ABC9C"/>
                </a:solidFill>
                <a:latin typeface="Noto Sans JP"/>
              </a:rPr>
              <a:t>  ② 動作確認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834640" y="1947672"/>
            <a:ext cx="8686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Noto Sans JP"/>
              </a:rPr>
              <a:t>ボタンをクリックして X / O が交互に置かれるか確認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74320" y="2606040"/>
            <a:ext cx="11430000" cy="713232"/>
          </a:xfrm>
          <a:prstGeom prst="roundRect">
            <a:avLst>
              <a:gd name="adj" fmla="val 5000"/>
            </a:avLst>
          </a:prstGeom>
          <a:solidFill>
            <a:srgbClr val="1A2D4E"/>
          </a:solidFill>
          <a:ln w="25400">
            <a:solidFill>
              <a:srgbClr val="FFD7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74320" y="260604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D700"/>
                </a:solidFill>
                <a:latin typeface="Noto Sans JP"/>
              </a:rPr>
              <a:t>  ③ 勝敗判定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834640" y="2770632"/>
            <a:ext cx="8686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Noto Sans JP"/>
              </a:rPr>
              <a:t>三目揃ったら「○の勝ち！」が status に表示されるか確認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74320" y="3429000"/>
            <a:ext cx="11430000" cy="713232"/>
          </a:xfrm>
          <a:prstGeom prst="roundRect">
            <a:avLst>
              <a:gd name="adj" fmla="val 5000"/>
            </a:avLst>
          </a:prstGeom>
          <a:solidFill>
            <a:srgbClr val="1A2D4E"/>
          </a:solidFill>
          <a:ln w="25400">
            <a:solidFill>
              <a:srgbClr val="2E5E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74320" y="342900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2E5EA0"/>
                </a:solidFill>
                <a:latin typeface="Noto Sans JP"/>
              </a:rPr>
              <a:t>  ④ リセット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834640" y="3593592"/>
            <a:ext cx="8686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Noto Sans JP"/>
              </a:rPr>
              <a:t>reset_btn に on_reset を接続し、盤面がリセットされるか確認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74320" y="4251960"/>
            <a:ext cx="11430000" cy="2423160"/>
          </a:xfrm>
          <a:prstGeom prst="roundRect">
            <a:avLst>
              <a:gd name="adj" fmla="val 5000"/>
            </a:avLst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74320" y="4251960"/>
            <a:ext cx="45720" cy="2423160"/>
          </a:xfrm>
          <a:prstGeom prst="rect">
            <a:avLst/>
          </a:prstGeom>
          <a:solidFill>
            <a:srgbClr val="2E5E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0" y="4389120"/>
            <a:ext cx="11064240" cy="2148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99AABB"/>
                </a:solidFill>
                <a:latin typeface="Courier New"/>
              </a:rPr>
              <a:t># on_reset 関数</a:t>
            </a:r>
          </a:p>
          <a:p>
            <a:r>
              <a:rPr sz="1400">
                <a:solidFill>
                  <a:srgbClr val="CBA6F7"/>
                </a:solidFill>
                <a:latin typeface="Courier New"/>
              </a:rPr>
              <a:t>def on_reset():</a:t>
            </a:r>
          </a:p>
          <a:p>
            <a:r>
              <a:rPr sz="1400">
                <a:solidFill>
                  <a:srgbClr val="A6E3A1"/>
                </a:solidFill>
                <a:latin typeface="Courier New"/>
              </a:rPr>
              <a:t>    board, player = initialize_game()</a:t>
            </a:r>
          </a:p>
          <a:p>
            <a:r>
              <a:rPr sz="1400">
                <a:solidFill>
                  <a:srgbClr val="89DCEB"/>
                </a:solidFill>
                <a:latin typeface="Courier New"/>
              </a:rPr>
              <a:t>    return [" "] * 9 + [board, player, "Xの番です"]</a:t>
            </a:r>
          </a:p>
          <a:p>
            <a:r>
              <a:rPr sz="1400">
                <a:solidFill>
                  <a:srgbClr val="A6E3A1"/>
                </a:solidFill>
                <a:latin typeface="Courier New"/>
              </a:rPr>
              <a:t/>
            </a:r>
          </a:p>
          <a:p>
            <a:r>
              <a:rPr sz="1400">
                <a:solidFill>
                  <a:srgbClr val="99AABB"/>
                </a:solidFill>
                <a:latin typeface="Courier New"/>
              </a:rPr>
              <a:t># --- ボタンを接続する ---</a:t>
            </a:r>
          </a:p>
          <a:p>
            <a:r>
              <a:rPr sz="1400">
                <a:solidFill>
                  <a:srgbClr val="A6E3A1"/>
                </a:solidFill>
                <a:latin typeface="Courier New"/>
              </a:rPr>
              <a:t>all_outputs = buttons + [board_state, player_state, status]</a:t>
            </a:r>
          </a:p>
          <a:p>
            <a:r>
              <a:rPr sz="1400">
                <a:solidFill>
                  <a:srgbClr val="A6E3A1"/>
                </a:solidFill>
                <a:latin typeface="Courier New"/>
              </a:rPr>
              <a:t/>
            </a:r>
          </a:p>
          <a:p>
            <a:r>
              <a:rPr sz="1400" b="1">
                <a:solidFill>
                  <a:srgbClr val="FAB387"/>
                </a:solidFill>
                <a:latin typeface="Courier New"/>
              </a:rPr>
              <a:t>for i, btn in enumerate(buttons):</a:t>
            </a:r>
          </a:p>
          <a:p>
            <a:r>
              <a:rPr sz="1400" b="1">
                <a:solidFill>
                  <a:srgbClr val="FAB387"/>
                </a:solidFill>
                <a:latin typeface="Courier New"/>
              </a:rPr>
              <a:t>    btn.click(fn=make_handler(i),</a:t>
            </a:r>
          </a:p>
          <a:p>
            <a:r>
              <a:rPr sz="1400" b="1">
                <a:solidFill>
                  <a:srgbClr val="FAB387"/>
                </a:solidFill>
                <a:latin typeface="Courier New"/>
              </a:rPr>
              <a:t>              inputs=[board_state, player_state],</a:t>
            </a:r>
          </a:p>
          <a:p>
            <a:r>
              <a:rPr sz="1400">
                <a:solidFill>
                  <a:srgbClr val="A6E3A1"/>
                </a:solidFill>
                <a:latin typeface="Courier New"/>
              </a:rPr>
              <a:t>              outputs=all_outputs)</a:t>
            </a:r>
          </a:p>
          <a:p>
            <a:r>
              <a:rPr sz="1400">
                <a:solidFill>
                  <a:srgbClr val="A6E3A1"/>
                </a:solidFill>
                <a:latin typeface="Courier New"/>
              </a:rPr>
              <a:t/>
            </a:r>
          </a:p>
          <a:p>
            <a:r>
              <a:rPr sz="1400" b="1">
                <a:solidFill>
                  <a:srgbClr val="FAB387"/>
                </a:solidFill>
                <a:latin typeface="Courier New"/>
              </a:rPr>
              <a:t>reset_btn.click(fn=on_reset, inputs=[],</a:t>
            </a:r>
          </a:p>
          <a:p>
            <a:r>
              <a:rPr sz="1400" b="1">
                <a:solidFill>
                  <a:srgbClr val="FAB387"/>
                </a:solidFill>
                <a:latin typeface="Courier New"/>
              </a:rPr>
              <a:t>                outputs=all_outputs)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2D4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82880" y="-182880"/>
            <a:ext cx="548640" cy="548640"/>
          </a:xfrm>
          <a:prstGeom prst="ellipse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554480" y="-182880"/>
            <a:ext cx="548640" cy="548640"/>
          </a:xfrm>
          <a:prstGeom prst="ellipse">
            <a:avLst/>
          </a:prstGeom>
          <a:solidFill>
            <a:srgbClr val="1ABC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2926080" y="-182880"/>
            <a:ext cx="548640" cy="548640"/>
          </a:xfrm>
          <a:prstGeom prst="ellipse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4297680" y="-182880"/>
            <a:ext cx="548640" cy="548640"/>
          </a:xfrm>
          <a:prstGeom prst="ellipse">
            <a:avLst/>
          </a:prstGeom>
          <a:solidFill>
            <a:srgbClr val="2E5E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5669280" y="-182880"/>
            <a:ext cx="548640" cy="548640"/>
          </a:xfrm>
          <a:prstGeom prst="ellipse">
            <a:avLst/>
          </a:prstGeom>
          <a:solidFill>
            <a:srgbClr val="8E44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040880" y="-182880"/>
            <a:ext cx="548640" cy="548640"/>
          </a:xfrm>
          <a:prstGeom prst="ellipse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412480" y="-182880"/>
            <a:ext cx="548640" cy="548640"/>
          </a:xfrm>
          <a:prstGeom prst="ellipse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784080" y="-182880"/>
            <a:ext cx="548640" cy="54864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18288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>
                <a:solidFill>
                  <a:srgbClr val="FFD700"/>
                </a:solidFill>
                <a:latin typeface="Noto Sans JP"/>
              </a:rPr>
              <a:t>おめでとうございます！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105156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Noto Sans JP"/>
              </a:rPr>
              <a:t>今回学んだこと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74320" y="1508760"/>
            <a:ext cx="2743200" cy="1828800"/>
          </a:xfrm>
          <a:prstGeom prst="roundRect">
            <a:avLst>
              <a:gd name="adj" fmla="val 5000"/>
            </a:avLst>
          </a:prstGeom>
          <a:solidFill>
            <a:srgbClr val="1A2D4E"/>
          </a:solidFill>
          <a:ln w="31750">
            <a:solidFill>
              <a:srgbClr val="FF6B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74320" y="1554480"/>
            <a:ext cx="2743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6B35"/>
                </a:solidFill>
                <a:latin typeface="Courier New"/>
              </a:rPr>
              <a:t>イベント駆動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11480" y="2103120"/>
            <a:ext cx="24688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FFFFFF"/>
                </a:solidFill>
                <a:latin typeface="Noto Sans JP"/>
              </a:rPr>
              <a:t>ユーザーの操作に応じて
関数が呼ばれる仕組み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246120" y="1508760"/>
            <a:ext cx="2743200" cy="1828800"/>
          </a:xfrm>
          <a:prstGeom prst="roundRect">
            <a:avLst>
              <a:gd name="adj" fmla="val 5000"/>
            </a:avLst>
          </a:prstGeom>
          <a:solidFill>
            <a:srgbClr val="1A2D4E"/>
          </a:solidFill>
          <a:ln w="31750">
            <a:solidFill>
              <a:srgbClr val="1ABC9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246120" y="1554480"/>
            <a:ext cx="2743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1ABC9C"/>
                </a:solidFill>
                <a:latin typeface="Courier New"/>
              </a:rPr>
              <a:t>gr.State()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383280" y="2103120"/>
            <a:ext cx="24688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FFFFFF"/>
                </a:solidFill>
                <a:latin typeface="Noto Sans JP"/>
              </a:rPr>
              <a:t>クリックをまたいで
状態を保持する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17920" y="1508760"/>
            <a:ext cx="2743200" cy="1828800"/>
          </a:xfrm>
          <a:prstGeom prst="roundRect">
            <a:avLst>
              <a:gd name="adj" fmla="val 5000"/>
            </a:avLst>
          </a:prstGeom>
          <a:solidFill>
            <a:srgbClr val="1A2D4E"/>
          </a:solidFill>
          <a:ln w="31750">
            <a:solidFill>
              <a:srgbClr val="2E5E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217920" y="1554480"/>
            <a:ext cx="2743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2E5EA0"/>
                </a:solidFill>
                <a:latin typeface="Courier New"/>
              </a:rPr>
              <a:t>.click()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55080" y="2103120"/>
            <a:ext cx="24688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FFFFFF"/>
                </a:solidFill>
                <a:latin typeface="Noto Sans JP"/>
              </a:rPr>
              <a:t>fn / inputs / outputs で
ボタンに関数を登録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189720" y="1508760"/>
            <a:ext cx="2743200" cy="1828800"/>
          </a:xfrm>
          <a:prstGeom prst="roundRect">
            <a:avLst>
              <a:gd name="adj" fmla="val 5000"/>
            </a:avLst>
          </a:prstGeom>
          <a:solidFill>
            <a:srgbClr val="1A2D4E"/>
          </a:solidFill>
          <a:ln w="31750">
            <a:solidFill>
              <a:srgbClr val="8E44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189720" y="1554480"/>
            <a:ext cx="2743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8E44AD"/>
                </a:solidFill>
                <a:latin typeface="Courier New"/>
              </a:rPr>
              <a:t>コールバック設計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326880" y="2103120"/>
            <a:ext cx="24688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FFFFFF"/>
                </a:solidFill>
                <a:latin typeface="Noto Sans JP"/>
              </a:rPr>
              <a:t>戻り値の順番が
outputs と一致する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65760" y="352044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Noto Sans JP"/>
              </a:rPr>
              <a:t>全9回で習得したこと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274320" y="3977639"/>
            <a:ext cx="2194560" cy="384048"/>
          </a:xfrm>
          <a:prstGeom prst="roundRect">
            <a:avLst>
              <a:gd name="adj" fmla="val 5000"/>
            </a:avLst>
          </a:prstGeom>
          <a:solidFill>
            <a:srgbClr val="1A2D4E"/>
          </a:solidFill>
          <a:ln w="19050">
            <a:solidFill>
              <a:srgbClr val="2E5E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74320" y="3977639"/>
            <a:ext cx="21945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2E5EA0"/>
                </a:solidFill>
                <a:latin typeface="Noto Sans JP"/>
              </a:rPr>
              <a:t>✅  第1回 変数・データ型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2651760" y="3977639"/>
            <a:ext cx="2194560" cy="384048"/>
          </a:xfrm>
          <a:prstGeom prst="roundRect">
            <a:avLst>
              <a:gd name="adj" fmla="val 5000"/>
            </a:avLst>
          </a:prstGeom>
          <a:solidFill>
            <a:srgbClr val="1A2D4E"/>
          </a:solidFill>
          <a:ln w="19050">
            <a:solidFill>
              <a:srgbClr val="2E5E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651760" y="3977639"/>
            <a:ext cx="21945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2E5EA0"/>
                </a:solidFill>
                <a:latin typeface="Noto Sans JP"/>
              </a:rPr>
              <a:t>✅  第2回 リスト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029200" y="3977639"/>
            <a:ext cx="2194560" cy="384048"/>
          </a:xfrm>
          <a:prstGeom prst="roundRect">
            <a:avLst>
              <a:gd name="adj" fmla="val 5000"/>
            </a:avLst>
          </a:prstGeom>
          <a:solidFill>
            <a:srgbClr val="1A2D4E"/>
          </a:solidFill>
          <a:ln w="19050">
            <a:solidFill>
              <a:srgbClr val="1ABC9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029200" y="3977639"/>
            <a:ext cx="21945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ABC9C"/>
                </a:solidFill>
                <a:latin typeface="Noto Sans JP"/>
              </a:rPr>
              <a:t>✅  第3回 制御文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7406640" y="3977639"/>
            <a:ext cx="2194560" cy="384048"/>
          </a:xfrm>
          <a:prstGeom prst="roundRect">
            <a:avLst>
              <a:gd name="adj" fmla="val 5000"/>
            </a:avLst>
          </a:prstGeom>
          <a:solidFill>
            <a:srgbClr val="1A2D4E"/>
          </a:solidFill>
          <a:ln w="19050">
            <a:solidFill>
              <a:srgbClr val="1ABC9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406640" y="3977639"/>
            <a:ext cx="21945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ABC9C"/>
                </a:solidFill>
                <a:latin typeface="Noto Sans JP"/>
              </a:rPr>
              <a:t>✅  第4回 forループ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9784080" y="3977639"/>
            <a:ext cx="2194560" cy="384048"/>
          </a:xfrm>
          <a:prstGeom prst="roundRect">
            <a:avLst>
              <a:gd name="adj" fmla="val 5000"/>
            </a:avLst>
          </a:prstGeom>
          <a:solidFill>
            <a:srgbClr val="1A2D4E"/>
          </a:solidFill>
          <a:ln w="19050">
            <a:solidFill>
              <a:srgbClr val="27A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784080" y="3977639"/>
            <a:ext cx="21945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27AE60"/>
                </a:solidFill>
                <a:latin typeface="Noto Sans JP"/>
              </a:rPr>
              <a:t>✅  第5回 関数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274320" y="4453127"/>
            <a:ext cx="2194560" cy="384048"/>
          </a:xfrm>
          <a:prstGeom prst="roundRect">
            <a:avLst>
              <a:gd name="adj" fmla="val 5000"/>
            </a:avLst>
          </a:prstGeom>
          <a:solidFill>
            <a:srgbClr val="1A2D4E"/>
          </a:solidFill>
          <a:ln w="19050">
            <a:solidFill>
              <a:srgbClr val="27A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274320" y="4453127"/>
            <a:ext cx="21945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27AE60"/>
                </a:solidFill>
                <a:latin typeface="Noto Sans JP"/>
              </a:rPr>
              <a:t>✅  第6回 whileループ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2651760" y="4453127"/>
            <a:ext cx="2194560" cy="384048"/>
          </a:xfrm>
          <a:prstGeom prst="roundRect">
            <a:avLst>
              <a:gd name="adj" fmla="val 5000"/>
            </a:avLst>
          </a:prstGeom>
          <a:solidFill>
            <a:srgbClr val="1A2D4E"/>
          </a:solidFill>
          <a:ln w="19050">
            <a:solidFill>
              <a:srgbClr val="FF6B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2651760" y="4453127"/>
            <a:ext cx="21945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6B35"/>
                </a:solidFill>
                <a:latin typeface="Noto Sans JP"/>
              </a:rPr>
              <a:t>✅  第7回 CUI統合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5029200" y="4453127"/>
            <a:ext cx="2194560" cy="384048"/>
          </a:xfrm>
          <a:prstGeom prst="roundRect">
            <a:avLst>
              <a:gd name="adj" fmla="val 5000"/>
            </a:avLst>
          </a:prstGeom>
          <a:solidFill>
            <a:srgbClr val="1A2D4E"/>
          </a:solidFill>
          <a:ln w="19050">
            <a:solidFill>
              <a:srgbClr val="FF6B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5029200" y="4453127"/>
            <a:ext cx="21945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6B35"/>
                </a:solidFill>
                <a:latin typeface="Noto Sans JP"/>
              </a:rPr>
              <a:t>✅  第8回 import・Gradio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7406640" y="4453127"/>
            <a:ext cx="2194560" cy="384048"/>
          </a:xfrm>
          <a:prstGeom prst="roundRect">
            <a:avLst>
              <a:gd name="adj" fmla="val 5000"/>
            </a:avLst>
          </a:prstGeom>
          <a:solidFill>
            <a:srgbClr val="1A2D4E"/>
          </a:solidFill>
          <a:ln w="19050">
            <a:solidFill>
              <a:srgbClr val="FFD7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406640" y="4453127"/>
            <a:ext cx="21945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D700"/>
                </a:solidFill>
                <a:latin typeface="Noto Sans JP"/>
              </a:rPr>
              <a:t>✅  第9回 イベント処理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274320" y="5212080"/>
            <a:ext cx="11430000" cy="1463040"/>
          </a:xfrm>
          <a:prstGeom prst="roundRect">
            <a:avLst>
              <a:gd name="adj" fmla="val 5000"/>
            </a:avLst>
          </a:prstGeom>
          <a:solidFill>
            <a:srgbClr val="122038"/>
          </a:solidFill>
          <a:ln w="25400">
            <a:solidFill>
              <a:srgbClr val="FFD7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457200" y="525780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D700"/>
                </a:solidFill>
                <a:latin typeface="Noto Sans JP"/>
              </a:rPr>
              <a:t>次のステップ（発展課題）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48640" y="5669280"/>
            <a:ext cx="5486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Noto Sans JP"/>
              </a:rPr>
              <a:t>🤖  CPU対戦機能を追加する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217920" y="5669280"/>
            <a:ext cx="5486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Noto Sans JP"/>
              </a:rPr>
              <a:t>🎨  CSSでデザインをカスタマイズ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48640" y="6080760"/>
            <a:ext cx="5486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Noto Sans JP"/>
              </a:rPr>
              <a:t>🎲  他のゲームに挑戦（オセロ・数字当て）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217920" y="6080760"/>
            <a:ext cx="5486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Noto Sans JP"/>
              </a:rPr>
              <a:t>📊  データ分析・業務自動化を探求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