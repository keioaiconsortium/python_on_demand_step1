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千野浩輔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28T02:22:17.053">
    <p:pos x="6000" y="0"/>
    <p:text>[Colabの画面にスイッチ]
たとえば、「こんにちは」と画面に表示するだけでも、言語によっては複雑な記述が必要になります。しかしPythonなら、たったの1行で書けます。初心者の方が文法の複雑さに頭を使わなくて済むため、本質的な「プログラムの考え方」に集中できます。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3-28T02:23:13.131">
    <p:pos x="6000" y="0"/>
    <p:text>ライブラリとは何かの説明も少なくとも口頭で説明したい。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3-28T02:24:50.236">
    <p:pos x="6000" y="0"/>
    <p:text>豊富なライブラリとも関連しますが〜
Youtube, Instagram, Netflix等の有名で大規模なソフトウェアもPythonを使って書かれている部分があることも補足したい。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3-28T03:10:39.976">
    <p:pos x="6000" y="0"/>
    <p:text>「プログラミング開発環境」とは何かを説明する。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a593f2e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a593f2e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ca93c1f3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ca93c1f3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a593f2e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a593f2e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ca1e2efa6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ca1e2efa6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ca1e2efa6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ca1e2efa6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ca1e2efa6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ca1e2efa6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a593f2e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a593f2e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ca1e2efa6_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ca1e2efa6_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ca1e2efa6_1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ca1e2efa6_1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a593f2e9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a593f2e9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a1e2efa6_1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ca1e2efa6_1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a593f2e9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a593f2e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ca1e2efa6_1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ca1e2efa6_1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ca1e2efa6_1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ca1e2efa6_1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ca1e2efa6_1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ca1e2efa6_1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a593f2e9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a593f2e9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ca1e2efa6_1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ca1e2efa6_1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GktwpPEMAVmntrnpJpSZrmwjLDN-5QJj/view" TargetMode="External"/><Relationship Id="rId4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colab.research.google.com/?hl=ja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4.xml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250"/>
              <a:t>Python入門講座 Step 1</a:t>
            </a:r>
            <a:br>
              <a:rPr lang="ja"/>
            </a:br>
            <a:r>
              <a:rPr lang="ja"/>
              <a:t>第0回 イントロダクション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自己紹介・講座紹介</a:t>
            </a:r>
            <a:endParaRPr/>
          </a:p>
        </p:txBody>
      </p:sp>
      <p:pic>
        <p:nvPicPr>
          <p:cNvPr id="136" name="Google Shape;136;p26" title="Screenshot 2026-03-25 at 22.14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06688"/>
            <a:ext cx="9144003" cy="145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 title="GUI版完成品イメージ動画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538" y="0"/>
            <a:ext cx="790893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なぜPythonを学ぶのか</a:t>
            </a:r>
            <a:endParaRPr/>
          </a:p>
        </p:txBody>
      </p:sp>
      <p:pic>
        <p:nvPicPr>
          <p:cNvPr id="147" name="Google Shape;147;p28" title="Screenshot 2026-03-25 at 22.14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00367"/>
            <a:ext cx="9144003" cy="2531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なぜPythonを学ぶのか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628650" y="2571753"/>
            <a:ext cx="7886700" cy="1291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/>
              <a:t>簡潔な構文により、コードが自然言語に近い形で書けるため、初心者にも読みやすく学びやすい言語です。</a:t>
            </a:r>
            <a:endParaRPr sz="2400"/>
          </a:p>
        </p:txBody>
      </p:sp>
      <p:sp>
        <p:nvSpPr>
          <p:cNvPr id="154" name="Google Shape;154;p29"/>
          <p:cNvSpPr txBox="1"/>
          <p:nvPr>
            <p:ph type="title"/>
          </p:nvPr>
        </p:nvSpPr>
        <p:spPr>
          <a:xfrm>
            <a:off x="628650" y="12680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1. </a:t>
            </a:r>
            <a:r>
              <a:rPr lang="ja"/>
              <a:t>読みやすさ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なぜPythonを学ぶのか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628650" y="2571747"/>
            <a:ext cx="7886700" cy="1520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/>
              <a:t>データ分析（pandas）、機械学習（scikit-learn, PyTorch）、Web開発（Django, Flask）など、幅広い分野のサードパーティライブラリが充実しています</a:t>
            </a:r>
            <a:r>
              <a:rPr lang="ja" sz="2400"/>
              <a:t>。</a:t>
            </a:r>
            <a:endParaRPr sz="2400"/>
          </a:p>
        </p:txBody>
      </p:sp>
      <p:sp>
        <p:nvSpPr>
          <p:cNvPr id="161" name="Google Shape;161;p30"/>
          <p:cNvSpPr txBox="1"/>
          <p:nvPr>
            <p:ph type="title"/>
          </p:nvPr>
        </p:nvSpPr>
        <p:spPr>
          <a:xfrm>
            <a:off x="628650" y="12680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2. </a:t>
            </a:r>
            <a:r>
              <a:rPr lang="ja"/>
              <a:t>豊富なライブラリ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なぜPythonを学ぶのか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628650" y="2571750"/>
            <a:ext cx="7886700" cy="146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/>
              <a:t>Web開発、データサイエンス、自動化スクリプト、AI研究など、多様な用途に使えるため、一つの言語で幅広い領域をカバーできます。</a:t>
            </a:r>
            <a:endParaRPr sz="2400"/>
          </a:p>
        </p:txBody>
      </p:sp>
      <p:sp>
        <p:nvSpPr>
          <p:cNvPr id="168" name="Google Shape;168;p31"/>
          <p:cNvSpPr txBox="1"/>
          <p:nvPr>
            <p:ph type="title"/>
          </p:nvPr>
        </p:nvSpPr>
        <p:spPr>
          <a:xfrm>
            <a:off x="628650" y="12680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3. </a:t>
            </a:r>
            <a:r>
              <a:rPr lang="ja"/>
              <a:t>汎用性の高さ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本講座の設計思想</a:t>
            </a:r>
            <a:endParaRPr/>
          </a:p>
        </p:txBody>
      </p:sp>
      <p:pic>
        <p:nvPicPr>
          <p:cNvPr id="174" name="Google Shape;174;p32" title="Screenshot 2026-03-25 at 22.15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7241"/>
            <a:ext cx="9144003" cy="232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本講座の設計思想</a:t>
            </a:r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903622"/>
            <a:ext cx="1344976" cy="187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9774" y="1903612"/>
            <a:ext cx="3380357" cy="187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1375" y="1903613"/>
            <a:ext cx="2549816" cy="187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3"/>
          <p:cNvSpPr txBox="1"/>
          <p:nvPr>
            <p:ph type="title"/>
          </p:nvPr>
        </p:nvSpPr>
        <p:spPr>
          <a:xfrm>
            <a:off x="628650" y="39430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「なぜこれを学んでいるのか？」を</a:t>
            </a:r>
            <a:br>
              <a:rPr lang="ja"/>
            </a:br>
            <a:r>
              <a:rPr lang="ja"/>
              <a:t>見失いやすい</a:t>
            </a:r>
            <a:endParaRPr/>
          </a:p>
        </p:txBody>
      </p:sp>
      <p:sp>
        <p:nvSpPr>
          <p:cNvPr id="184" name="Google Shape;184;p33"/>
          <p:cNvSpPr txBox="1"/>
          <p:nvPr>
            <p:ph type="title"/>
          </p:nvPr>
        </p:nvSpPr>
        <p:spPr>
          <a:xfrm>
            <a:off x="628650" y="1054298"/>
            <a:ext cx="7886700" cy="68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/>
              <a:t>従来の教科書的な教え方（ボトムアップ）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本講座の設計思想</a:t>
            </a:r>
            <a:endParaRPr/>
          </a:p>
        </p:txBody>
      </p:sp>
      <p:pic>
        <p:nvPicPr>
          <p:cNvPr id="190" name="Google Shape;190;p34" title="Screenshot 2026-03-28 at 11.41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0119"/>
            <a:ext cx="8839204" cy="10660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 txBox="1"/>
          <p:nvPr>
            <p:ph type="title"/>
          </p:nvPr>
        </p:nvSpPr>
        <p:spPr>
          <a:xfrm>
            <a:off x="675125" y="33582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常に何を学んでいるかを把握しやすい！</a:t>
            </a:r>
            <a:endParaRPr/>
          </a:p>
        </p:txBody>
      </p:sp>
      <p:sp>
        <p:nvSpPr>
          <p:cNvPr id="192" name="Google Shape;192;p34"/>
          <p:cNvSpPr txBox="1"/>
          <p:nvPr>
            <p:ph type="title"/>
          </p:nvPr>
        </p:nvSpPr>
        <p:spPr>
          <a:xfrm>
            <a:off x="628650" y="1054298"/>
            <a:ext cx="7886700" cy="684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ja" sz="2400"/>
              <a:t>本講座の提案するディアゴスティー二型（トップダウン）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本講座の全体像</a:t>
            </a:r>
            <a:endParaRPr/>
          </a:p>
        </p:txBody>
      </p:sp>
      <p:pic>
        <p:nvPicPr>
          <p:cNvPr id="198" name="Google Shape;198;p35" title="Screenshot 2026-03-25 at 22.15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6604"/>
            <a:ext cx="9144003" cy="291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本講座の</a:t>
            </a:r>
            <a:r>
              <a:rPr lang="ja"/>
              <a:t>全体像</a:t>
            </a:r>
            <a:endParaRPr/>
          </a:p>
        </p:txBody>
      </p:sp>
      <p:pic>
        <p:nvPicPr>
          <p:cNvPr id="204" name="Google Shape;204;p36" title="Screenshot 2026-03-28 at 11.41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8044"/>
            <a:ext cx="8839204" cy="1066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プログラミングの準備</a:t>
            </a:r>
            <a:endParaRPr/>
          </a:p>
        </p:txBody>
      </p:sp>
      <p:pic>
        <p:nvPicPr>
          <p:cNvPr id="210" name="Google Shape;210;p37" title="Screenshot 2026-03-25 at 22.16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3957"/>
            <a:ext cx="9144003" cy="1951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プログラミングの準備</a:t>
            </a:r>
            <a:endParaRPr/>
          </a:p>
        </p:txBody>
      </p:sp>
      <p:pic>
        <p:nvPicPr>
          <p:cNvPr id="216" name="Google Shape;2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638" y="1268044"/>
            <a:ext cx="5022724" cy="357065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8"/>
          <p:cNvSpPr txBox="1"/>
          <p:nvPr/>
        </p:nvSpPr>
        <p:spPr>
          <a:xfrm>
            <a:off x="2724000" y="4223100"/>
            <a:ext cx="36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u="sng">
                <a:solidFill>
                  <a:schemeClr val="hlink"/>
                </a:solidFill>
                <a:hlinkClick r:id="rId4"/>
              </a:rPr>
              <a:t>https://colab.research.google.com/?hl=ja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プログラミングの準備</a:t>
            </a:r>
            <a:endParaRPr/>
          </a:p>
        </p:txBody>
      </p:sp>
      <p:pic>
        <p:nvPicPr>
          <p:cNvPr id="223" name="Google Shape;22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7001" y="983250"/>
            <a:ext cx="1617001" cy="11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9"/>
          <p:cNvSpPr txBox="1"/>
          <p:nvPr>
            <p:ph type="title"/>
          </p:nvPr>
        </p:nvSpPr>
        <p:spPr>
          <a:xfrm>
            <a:off x="628650" y="983251"/>
            <a:ext cx="7886700" cy="792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200"/>
              <a:t>Google Colaboratoryを使う理由</a:t>
            </a:r>
            <a:endParaRPr sz="2200"/>
          </a:p>
        </p:txBody>
      </p:sp>
      <p:sp>
        <p:nvSpPr>
          <p:cNvPr id="225" name="Google Shape;225;p39"/>
          <p:cNvSpPr txBox="1"/>
          <p:nvPr>
            <p:ph type="title"/>
          </p:nvPr>
        </p:nvSpPr>
        <p:spPr>
          <a:xfrm>
            <a:off x="628650" y="17755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1. </a:t>
            </a:r>
            <a:r>
              <a:rPr lang="ja"/>
              <a:t>環境構築の手間を省く</a:t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628650" y="2769751"/>
            <a:ext cx="7886700" cy="17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/>
              <a:t>URLにアクセスするだけで</a:t>
            </a:r>
            <a:br>
              <a:rPr lang="ja" sz="2400"/>
            </a:br>
            <a:r>
              <a:rPr lang="ja" sz="2400"/>
              <a:t>早速プログラミングを始められる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プログラミングの準備</a:t>
            </a:r>
            <a:endParaRPr/>
          </a:p>
        </p:txBody>
      </p:sp>
      <p:pic>
        <p:nvPicPr>
          <p:cNvPr id="232" name="Google Shape;2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7001" y="983250"/>
            <a:ext cx="1617001" cy="11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0"/>
          <p:cNvSpPr txBox="1"/>
          <p:nvPr>
            <p:ph type="title"/>
          </p:nvPr>
        </p:nvSpPr>
        <p:spPr>
          <a:xfrm>
            <a:off x="628650" y="983251"/>
            <a:ext cx="7886700" cy="792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200"/>
              <a:t>Google Colaboratoryを使う理由</a:t>
            </a:r>
            <a:endParaRPr sz="2200"/>
          </a:p>
        </p:txBody>
      </p:sp>
      <p:sp>
        <p:nvSpPr>
          <p:cNvPr id="234" name="Google Shape;234;p40"/>
          <p:cNvSpPr txBox="1"/>
          <p:nvPr>
            <p:ph type="title"/>
          </p:nvPr>
        </p:nvSpPr>
        <p:spPr>
          <a:xfrm>
            <a:off x="628650" y="17755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2. </a:t>
            </a:r>
            <a:r>
              <a:rPr lang="ja"/>
              <a:t>どんなパソコンでも</a:t>
            </a:r>
            <a:endParaRPr/>
          </a:p>
        </p:txBody>
      </p:sp>
      <p:sp>
        <p:nvSpPr>
          <p:cNvPr id="235" name="Google Shape;235;p40"/>
          <p:cNvSpPr txBox="1"/>
          <p:nvPr>
            <p:ph idx="1" type="body"/>
          </p:nvPr>
        </p:nvSpPr>
        <p:spPr>
          <a:xfrm>
            <a:off x="628650" y="2769751"/>
            <a:ext cx="7886700" cy="17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/>
              <a:t>クラウドサービスであるため、</a:t>
            </a:r>
            <a:br>
              <a:rPr lang="ja" sz="2400"/>
            </a:br>
            <a:r>
              <a:rPr lang="ja" sz="2400"/>
              <a:t>あなたのパソコンの性能は関係ありません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最後に</a:t>
            </a:r>
            <a:endParaRPr/>
          </a:p>
        </p:txBody>
      </p:sp>
      <p:pic>
        <p:nvPicPr>
          <p:cNvPr id="241" name="Google Shape;241;p41" title="Screenshot 2026-03-25 at 22.16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4869"/>
            <a:ext cx="8515348" cy="1372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最後に</a:t>
            </a:r>
            <a:endParaRPr/>
          </a:p>
        </p:txBody>
      </p:sp>
      <p:pic>
        <p:nvPicPr>
          <p:cNvPr id="247" name="Google Shape;247;p42" title="Screenshot 2026-03-25 at 22.16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14869"/>
            <a:ext cx="8515348" cy="1372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